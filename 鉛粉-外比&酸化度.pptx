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10"/>
  </p:notesMasterIdLst>
  <p:handoutMasterIdLst>
    <p:handoutMasterId r:id="rId11"/>
  </p:handoutMasterIdLst>
  <p:sldIdLst>
    <p:sldId id="627" r:id="rId2"/>
    <p:sldId id="726" r:id="rId3"/>
    <p:sldId id="734" r:id="rId4"/>
    <p:sldId id="735" r:id="rId5"/>
    <p:sldId id="737" r:id="rId6"/>
    <p:sldId id="736" r:id="rId7"/>
    <p:sldId id="738" r:id="rId8"/>
    <p:sldId id="715" r:id="rId9"/>
  </p:sldIdLst>
  <p:sldSz cx="12192000" cy="6858000"/>
  <p:notesSz cx="7104063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CC"/>
    <a:srgbClr val="C8C8C8"/>
    <a:srgbClr val="3333FF"/>
    <a:srgbClr val="CC0000"/>
    <a:srgbClr val="33CC33"/>
    <a:srgbClr val="FFFF66"/>
    <a:srgbClr val="6AECFA"/>
    <a:srgbClr val="CC33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854" autoAdjust="0"/>
  </p:normalViewPr>
  <p:slideViewPr>
    <p:cSldViewPr>
      <p:cViewPr varScale="1">
        <p:scale>
          <a:sx n="103" d="100"/>
          <a:sy n="103" d="100"/>
        </p:scale>
        <p:origin x="69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6"/>
    </p:cViewPr>
  </p:sorterViewPr>
  <p:notesViewPr>
    <p:cSldViewPr>
      <p:cViewPr varScale="1">
        <p:scale>
          <a:sx n="60" d="100"/>
          <a:sy n="60" d="100"/>
        </p:scale>
        <p:origin x="-1098" y="-78"/>
      </p:cViewPr>
      <p:guideLst>
        <p:guide orient="horz" pos="3225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CEE0F9E-EE3A-4D85-92B4-709945D07A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5" y="4861155"/>
            <a:ext cx="5683914" cy="46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4224DF-4E30-468D-ADED-F7DAE3824D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6763"/>
            <a:ext cx="6821487" cy="3838575"/>
          </a:xfrm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4224DF-4E30-468D-ADED-F7DAE3824DB9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231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BACD1E-A16D-4786-9CD7-B84F37C1D92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605324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CDCC6-45B8-42E7-8F1E-49E4E4D3993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948058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17D5C6-56FA-42ED-AE44-7CE311F2ED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89902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BAE39-692D-4733-906E-783359E440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7908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42BDA-F8C6-4831-B90E-DC86D50D975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44403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21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463BD-0654-495C-8589-030B56BF6C1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29917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D2A8A-688F-471F-8FD5-2EEFEC81CD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091516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842D4-7EDE-4F56-AAD4-2680D6E5CA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64517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E26C6-C172-4121-8CB6-1145652BCD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64938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0DF1C-9BC7-4593-8663-0EBC909EBB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645853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60463-0CC8-4BF9-8D12-A93E1E1413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56059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DBE4E-A6C9-4470-A0E1-44EAAC7B35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459074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340768"/>
            <a:ext cx="10812957" cy="4679032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F3DF5-56DA-4780-8A62-806AF3EFD1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11189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53459-96B2-477B-8DA4-D2377AC867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366924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7556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7556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A6F7D-5046-4531-A78D-5D6F838272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7255905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DEB62-5E13-4BC4-BE8E-7F0C759D3E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29495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sz="2000"/>
          </a:p>
        </p:txBody>
      </p:sp>
      <p:sp>
        <p:nvSpPr>
          <p:cNvPr id="1873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3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4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Verdan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48842BDA-F8C6-4831-B90E-DC86D50D975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93" y="370788"/>
            <a:ext cx="1474959" cy="540161"/>
          </a:xfrm>
          <a:prstGeom prst="rect">
            <a:avLst/>
          </a:prstGeom>
        </p:spPr>
      </p:pic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768349" y="947461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10000"/>
              <a:gd name="connsiteY0" fmla="*/ 0 h 10000"/>
              <a:gd name="connsiteX1" fmla="*/ 5850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0" fmla="*/ 0 w 10000"/>
              <a:gd name="connsiteY0" fmla="*/ 0 h 10000"/>
              <a:gd name="connsiteX1" fmla="*/ 3552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 stroke="0">
                <a:moveTo>
                  <a:pt x="0" y="0"/>
                </a:moveTo>
                <a:lnTo>
                  <a:pt x="3552" y="0"/>
                </a:lnTo>
                <a:lnTo>
                  <a:pt x="3552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  <a:path w="10000" h="10000">
                <a:moveTo>
                  <a:pt x="0" y="0"/>
                </a:moveTo>
                <a:lnTo>
                  <a:pt x="10000" y="0"/>
                </a:lnTo>
              </a:path>
            </a:pathLst>
          </a:custGeom>
          <a:solidFill>
            <a:schemeClr val="accent2"/>
          </a:solidFill>
          <a:ln w="9525" cap="sq" cmpd="thinThick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38" r:id="rId2"/>
    <p:sldLayoutId id="2147484639" r:id="rId3"/>
    <p:sldLayoutId id="2147484640" r:id="rId4"/>
    <p:sldLayoutId id="2147484653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  <p:sldLayoutId id="2147484651" r:id="rId16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090738" y="1196751"/>
            <a:ext cx="8109718" cy="489305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endParaRPr lang="en-US" altLang="zh-TW" sz="3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鉛粉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外比酸化度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品質管理系統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122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182C3D-857D-40A3-813F-830C9D5DD49A}" type="slidenum">
              <a:rPr kumimoji="0" lang="en-US" altLang="zh-TW" sz="120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kumimoji="0" lang="en-US" altLang="zh-TW" sz="1200"/>
          </a:p>
        </p:txBody>
      </p:sp>
      <p:pic>
        <p:nvPicPr>
          <p:cNvPr id="5126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353134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文字方塊 1"/>
          <p:cNvSpPr txBox="1">
            <a:spLocks noChangeArrowheads="1"/>
          </p:cNvSpPr>
          <p:nvPr/>
        </p:nvSpPr>
        <p:spPr bwMode="auto">
          <a:xfrm>
            <a:off x="2526842" y="4581128"/>
            <a:ext cx="712879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 algn="ctr"/>
            <a:endParaRPr lang="en-US" altLang="zh-TW" b="1" dirty="0">
              <a:latin typeface="+mn-ea"/>
              <a:ea typeface="+mn-ea"/>
            </a:endParaRPr>
          </a:p>
          <a:p>
            <a:pPr algn="ctr"/>
            <a:r>
              <a:rPr lang="zh-TW" altLang="en-US" sz="3200" b="1" dirty="0">
                <a:latin typeface="+mn-ea"/>
                <a:ea typeface="+mn-ea"/>
              </a:rPr>
              <a:t>資訊中心</a:t>
            </a:r>
            <a:endParaRPr lang="en-US" altLang="zh-TW" sz="32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6B5C110-1721-4DAB-31BF-3444C22E2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3" y="1645989"/>
            <a:ext cx="1235499" cy="1076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D8F4351-52F7-5BA5-4536-39C0AD57E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32" y="3616103"/>
            <a:ext cx="1235499" cy="11012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032397B5-4EEF-DA0B-BF3C-DBF10CEB3E0D}"/>
              </a:ext>
            </a:extLst>
          </p:cNvPr>
          <p:cNvSpPr/>
          <p:nvPr/>
        </p:nvSpPr>
        <p:spPr>
          <a:xfrm>
            <a:off x="695400" y="6326370"/>
            <a:ext cx="799975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運作流程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先點選       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背景程式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待畫面告知 成功連線到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COM1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時再開啟       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網頁</a:t>
            </a:r>
            <a:endParaRPr lang="en-US" altLang="zh-TW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8F9731-3B6C-9E94-6F82-5079D03D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整體運作流程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E1C345-000E-9594-DA07-CC6B1EDB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11701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29601573-DA83-2096-7E5D-99B5BE036618}"/>
              </a:ext>
            </a:extLst>
          </p:cNvPr>
          <p:cNvGrpSpPr/>
          <p:nvPr/>
        </p:nvGrpSpPr>
        <p:grpSpPr>
          <a:xfrm>
            <a:off x="2567608" y="6326370"/>
            <a:ext cx="308098" cy="369332"/>
            <a:chOff x="9638330" y="2689238"/>
            <a:chExt cx="308098" cy="369332"/>
          </a:xfrm>
        </p:grpSpPr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A809F001-BB73-E269-94AB-7A331007B8C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19E48502-E84E-0136-5C3C-A4EAAB784E5D}"/>
                </a:ext>
              </a:extLst>
            </p:cNvPr>
            <p:cNvSpPr/>
            <p:nvPr/>
          </p:nvSpPr>
          <p:spPr>
            <a:xfrm>
              <a:off x="9638330" y="2689238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2AC640B8-F55F-4689-88B0-6923D6CAA0D3}"/>
              </a:ext>
            </a:extLst>
          </p:cNvPr>
          <p:cNvGrpSpPr/>
          <p:nvPr/>
        </p:nvGrpSpPr>
        <p:grpSpPr>
          <a:xfrm>
            <a:off x="7752184" y="6325011"/>
            <a:ext cx="308097" cy="369332"/>
            <a:chOff x="9638330" y="2689238"/>
            <a:chExt cx="308097" cy="369332"/>
          </a:xfrm>
        </p:grpSpPr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858E17E8-367F-D028-21EB-D91141A14CF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5080D2F-AD97-CF53-67A3-35148C2571BC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85001144-96BC-7424-52FF-88874162526D}"/>
              </a:ext>
            </a:extLst>
          </p:cNvPr>
          <p:cNvSpPr/>
          <p:nvPr/>
        </p:nvSpPr>
        <p:spPr>
          <a:xfrm>
            <a:off x="771006" y="2779266"/>
            <a:ext cx="341632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先點選</a:t>
            </a:r>
            <a:r>
              <a:rPr lang="en-US" altLang="zh-TW" sz="180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Powder_KP1</a:t>
            </a:r>
          </a:p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等待畫面出現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成功連線到 </a:t>
            </a:r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COM1</a:t>
            </a:r>
            <a:endParaRPr lang="zh-TW" altLang="en-US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DBF95A-F610-D1F4-7CF9-B06C4D7D846A}"/>
              </a:ext>
            </a:extLst>
          </p:cNvPr>
          <p:cNvSpPr/>
          <p:nvPr/>
        </p:nvSpPr>
        <p:spPr>
          <a:xfrm>
            <a:off x="766233" y="4810689"/>
            <a:ext cx="409699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等待畫面出現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成功連線到 </a:t>
            </a:r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COM1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</a:endParaRPr>
          </a:p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再點擊</a:t>
            </a:r>
            <a:r>
              <a:rPr lang="en-US" altLang="zh-TW" sz="1800" cap="none" spc="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POWDER</a:t>
            </a:r>
            <a:endParaRPr lang="en-US" altLang="zh-TW" sz="1800" cap="none" spc="0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76F2B768-410A-C3C2-1D47-A5B6AE42E163}"/>
              </a:ext>
            </a:extLst>
          </p:cNvPr>
          <p:cNvGrpSpPr/>
          <p:nvPr/>
        </p:nvGrpSpPr>
        <p:grpSpPr>
          <a:xfrm>
            <a:off x="1810166" y="2439147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391D204-4DAF-B8AE-46B3-9762243F604D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04A0665-DD85-124C-60C1-99939C2955D2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2267CD49-8A24-42A5-209C-F4F188353371}"/>
              </a:ext>
            </a:extLst>
          </p:cNvPr>
          <p:cNvGrpSpPr/>
          <p:nvPr/>
        </p:nvGrpSpPr>
        <p:grpSpPr>
          <a:xfrm>
            <a:off x="1845241" y="4415799"/>
            <a:ext cx="308097" cy="369332"/>
            <a:chOff x="9638330" y="2689238"/>
            <a:chExt cx="308097" cy="369332"/>
          </a:xfrm>
        </p:grpSpPr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C6E7D66-D5AC-CDB8-48C5-BFC9FC49784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10515F2-5D7A-BB2F-9799-4C939D3CDD5F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pic>
        <p:nvPicPr>
          <p:cNvPr id="17" name="圖片 16">
            <a:extLst>
              <a:ext uri="{FF2B5EF4-FFF2-40B4-BE49-F238E27FC236}">
                <a16:creationId xmlns:a16="http://schemas.microsoft.com/office/drawing/2014/main" id="{BF364682-1C7B-5958-00C2-10A4D51B1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070" y="1683669"/>
            <a:ext cx="7178151" cy="3738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998079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09AF8-5F15-7CC1-CB8D-AB60E5127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6AF586A-75AE-8319-D5B2-675DC40DB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15" y="1504078"/>
            <a:ext cx="6683925" cy="423315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6715C57-06EE-314B-0D39-64AD8F89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頁面功能介紹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D55765-C97D-53CA-006A-9F3AFA2D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4636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91D900E-E685-4246-2E01-59E69C23C9B6}"/>
              </a:ext>
            </a:extLst>
          </p:cNvPr>
          <p:cNvGrpSpPr/>
          <p:nvPr/>
        </p:nvGrpSpPr>
        <p:grpSpPr>
          <a:xfrm>
            <a:off x="8129111" y="1468261"/>
            <a:ext cx="311304" cy="369332"/>
            <a:chOff x="9630717" y="2687879"/>
            <a:chExt cx="311304" cy="369332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6B97029-7DBB-EA9C-9D03-4B0109263759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DE4B52F-3C30-F160-1333-7499331ED43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AAF6E9B7-1267-A0F7-F2EF-69DB0C32CB23}"/>
              </a:ext>
            </a:extLst>
          </p:cNvPr>
          <p:cNvSpPr/>
          <p:nvPr/>
        </p:nvSpPr>
        <p:spPr bwMode="auto">
          <a:xfrm>
            <a:off x="810752" y="2245563"/>
            <a:ext cx="1036776" cy="175325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75863DDB-C72B-F5E3-874F-4729ADC0B8F7}"/>
              </a:ext>
            </a:extLst>
          </p:cNvPr>
          <p:cNvGrpSpPr/>
          <p:nvPr/>
        </p:nvGrpSpPr>
        <p:grpSpPr>
          <a:xfrm>
            <a:off x="1603095" y="2202420"/>
            <a:ext cx="260008" cy="261610"/>
            <a:chOff x="9608146" y="2687879"/>
            <a:chExt cx="356442" cy="382953"/>
          </a:xfrm>
        </p:grpSpPr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0FE49951-EC0B-B23D-2816-5124BCB99C4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A5209E9-ADC2-AF4E-484A-FA032279E8A1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3A94B0C3-1E28-4940-F454-E0DEF35C22D3}"/>
              </a:ext>
            </a:extLst>
          </p:cNvPr>
          <p:cNvGrpSpPr/>
          <p:nvPr/>
        </p:nvGrpSpPr>
        <p:grpSpPr>
          <a:xfrm>
            <a:off x="8126912" y="1903279"/>
            <a:ext cx="311304" cy="369332"/>
            <a:chOff x="9630717" y="2687879"/>
            <a:chExt cx="311304" cy="369332"/>
          </a:xfrm>
        </p:grpSpPr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F69C5CC5-2019-1718-2524-855E10CA47D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C1ED438A-819B-200F-545A-6FCB20F5DD1F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07344267-839A-8806-9E00-B05AD95EF7BE}"/>
              </a:ext>
            </a:extLst>
          </p:cNvPr>
          <p:cNvGrpSpPr/>
          <p:nvPr/>
        </p:nvGrpSpPr>
        <p:grpSpPr>
          <a:xfrm>
            <a:off x="8127521" y="2367560"/>
            <a:ext cx="311304" cy="369332"/>
            <a:chOff x="9630717" y="2687879"/>
            <a:chExt cx="311304" cy="369332"/>
          </a:xfrm>
        </p:grpSpPr>
        <p:sp>
          <p:nvSpPr>
            <p:cNvPr id="99" name="橢圓 98">
              <a:extLst>
                <a:ext uri="{FF2B5EF4-FFF2-40B4-BE49-F238E27FC236}">
                  <a16:creationId xmlns:a16="http://schemas.microsoft.com/office/drawing/2014/main" id="{D9789153-13C6-6461-070A-0357CDC3C10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5E4DE05B-3BA1-7F54-4EDC-A17F26F009EF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F00A0EFC-1455-2749-06EC-E668A6672F55}"/>
              </a:ext>
            </a:extLst>
          </p:cNvPr>
          <p:cNvGrpSpPr/>
          <p:nvPr/>
        </p:nvGrpSpPr>
        <p:grpSpPr>
          <a:xfrm>
            <a:off x="8140364" y="2791333"/>
            <a:ext cx="311304" cy="369332"/>
            <a:chOff x="9630717" y="2687879"/>
            <a:chExt cx="311304" cy="369332"/>
          </a:xfrm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C611EFB0-F43D-AB59-E46B-2984B437DACA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F01766C4-4EEE-C50D-4A65-D7DBFE3D501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2A2EB06D-BE9F-2D12-0126-6C1125B70AFF}"/>
              </a:ext>
            </a:extLst>
          </p:cNvPr>
          <p:cNvGrpSpPr/>
          <p:nvPr/>
        </p:nvGrpSpPr>
        <p:grpSpPr>
          <a:xfrm>
            <a:off x="8138165" y="3210975"/>
            <a:ext cx="311304" cy="369332"/>
            <a:chOff x="9630717" y="2687879"/>
            <a:chExt cx="311304" cy="369332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4AEBD9DD-B77E-973E-1BCE-F6F2EF46B26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081372D-DDCD-8A1F-1F55-EA6D1264FFC7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9A01B952-1F3D-0A87-599A-B0E242DC0F4B}"/>
              </a:ext>
            </a:extLst>
          </p:cNvPr>
          <p:cNvGrpSpPr/>
          <p:nvPr/>
        </p:nvGrpSpPr>
        <p:grpSpPr>
          <a:xfrm>
            <a:off x="8138774" y="4003081"/>
            <a:ext cx="311304" cy="369332"/>
            <a:chOff x="9630717" y="2687879"/>
            <a:chExt cx="311304" cy="369332"/>
          </a:xfrm>
        </p:grpSpPr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986138A6-2397-56F7-9E54-3FDC2F0DADF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D2D3C7B-A429-24C5-9F85-88FAE6BD17F8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1297E275-AB51-CB20-998E-F5050AC70CA1}"/>
              </a:ext>
            </a:extLst>
          </p:cNvPr>
          <p:cNvGrpSpPr/>
          <p:nvPr/>
        </p:nvGrpSpPr>
        <p:grpSpPr>
          <a:xfrm>
            <a:off x="8139768" y="4417002"/>
            <a:ext cx="308098" cy="369332"/>
            <a:chOff x="9632320" y="2687879"/>
            <a:chExt cx="308098" cy="369332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5001BF23-79E2-08BC-8EB9-D4609FBFB8D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B1D60A15-7741-8DCE-86F4-F9065161789E}"/>
                </a:ext>
              </a:extLst>
            </p:cNvPr>
            <p:cNvSpPr/>
            <p:nvPr/>
          </p:nvSpPr>
          <p:spPr>
            <a:xfrm>
              <a:off x="9632320" y="2687879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13" name="矩形 112">
            <a:extLst>
              <a:ext uri="{FF2B5EF4-FFF2-40B4-BE49-F238E27FC236}">
                <a16:creationId xmlns:a16="http://schemas.microsoft.com/office/drawing/2014/main" id="{A2370C4E-585F-9636-B487-52B17625593D}"/>
              </a:ext>
            </a:extLst>
          </p:cNvPr>
          <p:cNvSpPr/>
          <p:nvPr/>
        </p:nvSpPr>
        <p:spPr>
          <a:xfrm>
            <a:off x="8416019" y="1456976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鉛粉規格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75E6D3D-6DE4-3E7E-4767-E6595D5FF037}"/>
              </a:ext>
            </a:extLst>
          </p:cNvPr>
          <p:cNvSpPr/>
          <p:nvPr/>
        </p:nvSpPr>
        <p:spPr>
          <a:xfrm>
            <a:off x="8420840" y="1900139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機台編碼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0F436A5-66F4-2705-1C30-B58D9D14F22A}"/>
              </a:ext>
            </a:extLst>
          </p:cNvPr>
          <p:cNvSpPr/>
          <p:nvPr/>
        </p:nvSpPr>
        <p:spPr>
          <a:xfrm>
            <a:off x="8079312" y="3600409"/>
            <a:ext cx="305724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 班別會根據時間自動轉換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6929DE7-DC28-1EBB-4C28-5B72181CFF0E}"/>
              </a:ext>
            </a:extLst>
          </p:cNvPr>
          <p:cNvSpPr/>
          <p:nvPr/>
        </p:nvSpPr>
        <p:spPr>
          <a:xfrm>
            <a:off x="8422644" y="2379491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工單編號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F464795-1927-E495-657C-4F2A3908205B}"/>
              </a:ext>
            </a:extLst>
          </p:cNvPr>
          <p:cNvSpPr/>
          <p:nvPr/>
        </p:nvSpPr>
        <p:spPr>
          <a:xfrm>
            <a:off x="8415912" y="2789133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料號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74A7CC0C-A551-4965-CF00-4E6A6BD6B600}"/>
              </a:ext>
            </a:extLst>
          </p:cNvPr>
          <p:cNvSpPr/>
          <p:nvPr/>
        </p:nvSpPr>
        <p:spPr>
          <a:xfrm>
            <a:off x="8414579" y="3206371"/>
            <a:ext cx="224292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鉛粉批號</a:t>
            </a:r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en-US" altLang="zh-TW" sz="1800" b="0" u="sng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250508</a:t>
            </a:r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</a:t>
            </a:r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2)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3B519E8-6829-4A66-323A-261674B9AB23}"/>
              </a:ext>
            </a:extLst>
          </p:cNvPr>
          <p:cNvSpPr/>
          <p:nvPr/>
        </p:nvSpPr>
        <p:spPr>
          <a:xfrm>
            <a:off x="8414578" y="3992894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桶號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774A138-8047-B24A-3D92-DD76B6E8DC36}"/>
              </a:ext>
            </a:extLst>
          </p:cNvPr>
          <p:cNvSpPr/>
          <p:nvPr/>
        </p:nvSpPr>
        <p:spPr>
          <a:xfrm>
            <a:off x="8414578" y="4412723"/>
            <a:ext cx="146546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ISO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鉛粉批號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0454CE6D-D2EC-637C-7641-1C9FA05C541A}"/>
              </a:ext>
            </a:extLst>
          </p:cNvPr>
          <p:cNvGrpSpPr/>
          <p:nvPr/>
        </p:nvGrpSpPr>
        <p:grpSpPr>
          <a:xfrm>
            <a:off x="8092025" y="4829390"/>
            <a:ext cx="431528" cy="369332"/>
            <a:chOff x="9570605" y="2687879"/>
            <a:chExt cx="431528" cy="369332"/>
          </a:xfrm>
        </p:grpSpPr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2CCE9EF6-3F06-CAF1-009E-F39624A7F5F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5FF3837-5E01-AE06-0388-251DAC79F246}"/>
                </a:ext>
              </a:extLst>
            </p:cNvPr>
            <p:cNvSpPr/>
            <p:nvPr/>
          </p:nvSpPr>
          <p:spPr>
            <a:xfrm>
              <a:off x="9570605" y="2687879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10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31" name="矩形 130">
            <a:extLst>
              <a:ext uri="{FF2B5EF4-FFF2-40B4-BE49-F238E27FC236}">
                <a16:creationId xmlns:a16="http://schemas.microsoft.com/office/drawing/2014/main" id="{260FAB37-14D5-66C7-E295-1CBD344D8F97}"/>
              </a:ext>
            </a:extLst>
          </p:cNvPr>
          <p:cNvSpPr/>
          <p:nvPr/>
        </p:nvSpPr>
        <p:spPr>
          <a:xfrm>
            <a:off x="8414577" y="4827516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操作人員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E07B4FFF-49C7-0850-0514-2293B7099757}"/>
              </a:ext>
            </a:extLst>
          </p:cNvPr>
          <p:cNvGrpSpPr/>
          <p:nvPr/>
        </p:nvGrpSpPr>
        <p:grpSpPr>
          <a:xfrm>
            <a:off x="8093156" y="5244001"/>
            <a:ext cx="431528" cy="369332"/>
            <a:chOff x="9570605" y="2687879"/>
            <a:chExt cx="431528" cy="369332"/>
          </a:xfrm>
        </p:grpSpPr>
        <p:sp>
          <p:nvSpPr>
            <p:cNvPr id="137" name="橢圓 136">
              <a:extLst>
                <a:ext uri="{FF2B5EF4-FFF2-40B4-BE49-F238E27FC236}">
                  <a16:creationId xmlns:a16="http://schemas.microsoft.com/office/drawing/2014/main" id="{7C298DDA-6CA5-4440-BD0E-E21B8ED74E9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9A79FB98-FC34-64F3-C0D2-EE2A6D0A2859}"/>
                </a:ext>
              </a:extLst>
            </p:cNvPr>
            <p:cNvSpPr/>
            <p:nvPr/>
          </p:nvSpPr>
          <p:spPr>
            <a:xfrm>
              <a:off x="9570605" y="2687879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11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39" name="矩形 138">
            <a:extLst>
              <a:ext uri="{FF2B5EF4-FFF2-40B4-BE49-F238E27FC236}">
                <a16:creationId xmlns:a16="http://schemas.microsoft.com/office/drawing/2014/main" id="{C6EC2594-4ED9-8EB3-3318-8BB8EC26D05D}"/>
              </a:ext>
            </a:extLst>
          </p:cNvPr>
          <p:cNvSpPr/>
          <p:nvPr/>
        </p:nvSpPr>
        <p:spPr>
          <a:xfrm>
            <a:off x="8422642" y="5228884"/>
            <a:ext cx="203132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數據接收查看視窗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15DF06E4-79CC-2DA3-C1B9-6FF99A6F7EF4}"/>
              </a:ext>
            </a:extLst>
          </p:cNvPr>
          <p:cNvSpPr/>
          <p:nvPr/>
        </p:nvSpPr>
        <p:spPr>
          <a:xfrm>
            <a:off x="766233" y="6310274"/>
            <a:ext cx="837280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 表格顯示數據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依據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規格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，若其中一個選項不同所顯示的數據也不相同。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7344620-353E-DB31-CE23-7D8577CCC8BD}"/>
              </a:ext>
            </a:extLst>
          </p:cNvPr>
          <p:cNvSpPr/>
          <p:nvPr/>
        </p:nvSpPr>
        <p:spPr bwMode="auto">
          <a:xfrm>
            <a:off x="1901424" y="2245563"/>
            <a:ext cx="1036776" cy="175325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AA19163-538A-17E4-5016-CC59993A418A}"/>
              </a:ext>
            </a:extLst>
          </p:cNvPr>
          <p:cNvSpPr/>
          <p:nvPr/>
        </p:nvSpPr>
        <p:spPr bwMode="auto">
          <a:xfrm>
            <a:off x="3039924" y="2245563"/>
            <a:ext cx="1036776" cy="175325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76B2165-AC3E-749A-70FE-0C04C93E53F7}"/>
              </a:ext>
            </a:extLst>
          </p:cNvPr>
          <p:cNvSpPr/>
          <p:nvPr/>
        </p:nvSpPr>
        <p:spPr bwMode="auto">
          <a:xfrm>
            <a:off x="4130596" y="2245563"/>
            <a:ext cx="1036776" cy="175325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C8B95C4-AD3C-808E-DE2F-367C98948656}"/>
              </a:ext>
            </a:extLst>
          </p:cNvPr>
          <p:cNvSpPr/>
          <p:nvPr/>
        </p:nvSpPr>
        <p:spPr bwMode="auto">
          <a:xfrm>
            <a:off x="810752" y="2580023"/>
            <a:ext cx="1036776" cy="175325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A6EAF27-71E3-64B2-8985-5ECACBC87F15}"/>
              </a:ext>
            </a:extLst>
          </p:cNvPr>
          <p:cNvSpPr/>
          <p:nvPr/>
        </p:nvSpPr>
        <p:spPr bwMode="auto">
          <a:xfrm>
            <a:off x="1901424" y="2580023"/>
            <a:ext cx="1036776" cy="175325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3310207-E0DC-2693-5F0A-9A026F64B1BF}"/>
              </a:ext>
            </a:extLst>
          </p:cNvPr>
          <p:cNvSpPr/>
          <p:nvPr/>
        </p:nvSpPr>
        <p:spPr bwMode="auto">
          <a:xfrm>
            <a:off x="3039924" y="2580023"/>
            <a:ext cx="1036776" cy="175325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D6F7D29-CFBD-102F-C8AD-33DE3459A0E4}"/>
              </a:ext>
            </a:extLst>
          </p:cNvPr>
          <p:cNvSpPr/>
          <p:nvPr/>
        </p:nvSpPr>
        <p:spPr bwMode="auto">
          <a:xfrm>
            <a:off x="4130596" y="2580023"/>
            <a:ext cx="1036776" cy="175325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9EB00C1B-94FD-3144-49E3-BC344A825E00}"/>
              </a:ext>
            </a:extLst>
          </p:cNvPr>
          <p:cNvGrpSpPr/>
          <p:nvPr/>
        </p:nvGrpSpPr>
        <p:grpSpPr>
          <a:xfrm>
            <a:off x="2705140" y="2202420"/>
            <a:ext cx="260008" cy="261610"/>
            <a:chOff x="9608146" y="2687879"/>
            <a:chExt cx="356442" cy="382953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AF38A0A1-6B75-E74A-B0E8-4CF5EFD15F64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28EE5DA-2A86-697E-E68E-B0BB970B5ED7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B2CD76DB-1574-517C-324E-CC58B823A5AE}"/>
              </a:ext>
            </a:extLst>
          </p:cNvPr>
          <p:cNvGrpSpPr/>
          <p:nvPr/>
        </p:nvGrpSpPr>
        <p:grpSpPr>
          <a:xfrm>
            <a:off x="3873265" y="2202420"/>
            <a:ext cx="260008" cy="261610"/>
            <a:chOff x="9608146" y="2687879"/>
            <a:chExt cx="356442" cy="382953"/>
          </a:xfrm>
        </p:grpSpPr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2BBB9913-4499-BF4E-B60D-A091B3F65CED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4951E5C-CB57-6C97-61D7-E77A2A80E5F6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8694B962-43C2-F7E6-CBB5-C41712CAF15F}"/>
              </a:ext>
            </a:extLst>
          </p:cNvPr>
          <p:cNvGrpSpPr/>
          <p:nvPr/>
        </p:nvGrpSpPr>
        <p:grpSpPr>
          <a:xfrm>
            <a:off x="4932509" y="2202420"/>
            <a:ext cx="260008" cy="261610"/>
            <a:chOff x="9608146" y="2687879"/>
            <a:chExt cx="356442" cy="382953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A93A56B0-386B-0FEF-60B9-E73C694AFB73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10BB24D-B6E7-1DE6-E1C3-A6EFE122C26E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63F8013A-5C57-41D6-C35F-E4EB31D20531}"/>
              </a:ext>
            </a:extLst>
          </p:cNvPr>
          <p:cNvGrpSpPr/>
          <p:nvPr/>
        </p:nvGrpSpPr>
        <p:grpSpPr>
          <a:xfrm>
            <a:off x="1603095" y="2538480"/>
            <a:ext cx="260008" cy="261610"/>
            <a:chOff x="9608146" y="2687879"/>
            <a:chExt cx="356442" cy="382953"/>
          </a:xfrm>
        </p:grpSpPr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1A66EF2A-193E-9479-7B07-18040A0885B7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57F44F1-4935-8E27-29B8-4D9364330A93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F2B8CA3F-6B6F-E6EB-D9AE-43848120D703}"/>
              </a:ext>
            </a:extLst>
          </p:cNvPr>
          <p:cNvGrpSpPr/>
          <p:nvPr/>
        </p:nvGrpSpPr>
        <p:grpSpPr>
          <a:xfrm>
            <a:off x="2705140" y="2538480"/>
            <a:ext cx="260008" cy="261610"/>
            <a:chOff x="9608146" y="2687879"/>
            <a:chExt cx="356442" cy="382953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8025FA5B-11B4-B072-4A0F-9D8CB806D74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C3117B3-F81B-5EFF-DE1E-3AF27C9F0F6D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E834A7A3-DF4C-1CD2-455D-0F622BA5951B}"/>
              </a:ext>
            </a:extLst>
          </p:cNvPr>
          <p:cNvGrpSpPr/>
          <p:nvPr/>
        </p:nvGrpSpPr>
        <p:grpSpPr>
          <a:xfrm>
            <a:off x="3873265" y="2538480"/>
            <a:ext cx="260008" cy="261610"/>
            <a:chOff x="9608146" y="2687879"/>
            <a:chExt cx="356442" cy="382953"/>
          </a:xfrm>
        </p:grpSpPr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5C9D0457-8DDC-DBE9-0450-BDA46735A757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095B989-C239-6B05-A450-B88A1E775C58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EB775B3C-A0A7-90AE-0527-C658D91A0A6D}"/>
              </a:ext>
            </a:extLst>
          </p:cNvPr>
          <p:cNvGrpSpPr/>
          <p:nvPr/>
        </p:nvGrpSpPr>
        <p:grpSpPr>
          <a:xfrm>
            <a:off x="4894841" y="2538480"/>
            <a:ext cx="335349" cy="261610"/>
            <a:chOff x="9556505" y="2687879"/>
            <a:chExt cx="459726" cy="382953"/>
          </a:xfrm>
        </p:grpSpPr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149FDAD3-C674-8A2B-2198-79C5406F820F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74CCBE6-FF28-4F77-FB28-36375F164203}"/>
                </a:ext>
              </a:extLst>
            </p:cNvPr>
            <p:cNvSpPr/>
            <p:nvPr/>
          </p:nvSpPr>
          <p:spPr>
            <a:xfrm>
              <a:off x="9556505" y="2687879"/>
              <a:ext cx="459726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10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96090F92-827B-72C1-580A-AB4B81915588}"/>
              </a:ext>
            </a:extLst>
          </p:cNvPr>
          <p:cNvSpPr/>
          <p:nvPr/>
        </p:nvSpPr>
        <p:spPr bwMode="auto">
          <a:xfrm>
            <a:off x="5208179" y="2106451"/>
            <a:ext cx="2242261" cy="956281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4AE45F7C-F015-B149-025F-64DBEB20BA6C}"/>
              </a:ext>
            </a:extLst>
          </p:cNvPr>
          <p:cNvGrpSpPr/>
          <p:nvPr/>
        </p:nvGrpSpPr>
        <p:grpSpPr>
          <a:xfrm>
            <a:off x="7243588" y="2893469"/>
            <a:ext cx="335349" cy="261610"/>
            <a:chOff x="9556505" y="2687879"/>
            <a:chExt cx="459726" cy="382953"/>
          </a:xfrm>
        </p:grpSpPr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57F6B194-793E-5D01-14CE-F3982A567A7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F938F6D5-199E-F8CA-E94A-D9022B5DF8AB}"/>
                </a:ext>
              </a:extLst>
            </p:cNvPr>
            <p:cNvSpPr/>
            <p:nvPr/>
          </p:nvSpPr>
          <p:spPr>
            <a:xfrm>
              <a:off x="9556505" y="2687879"/>
              <a:ext cx="459726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905572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D860-BA91-12D2-8C49-045B6B0A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3F88DFB-F901-D9F0-C94C-E021B0A3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94" y="1418362"/>
            <a:ext cx="5664102" cy="451873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35DF3DD-4655-6552-BA94-7CCB138F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如何接收現場設備數據</a:t>
            </a:r>
            <a:r>
              <a:rPr lang="en-US" altLang="zh-TW" sz="4000" b="1" dirty="0"/>
              <a:t>?</a:t>
            </a:r>
            <a:endParaRPr lang="zh-TW" altLang="en-US" sz="40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CFEC93-E1CC-F8EB-A6A4-7A403825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484D19DD-DF80-0CF8-5E48-6AC556FD8484}"/>
              </a:ext>
            </a:extLst>
          </p:cNvPr>
          <p:cNvGrpSpPr/>
          <p:nvPr/>
        </p:nvGrpSpPr>
        <p:grpSpPr>
          <a:xfrm>
            <a:off x="704517" y="6313192"/>
            <a:ext cx="431528" cy="369332"/>
            <a:chOff x="9576614" y="2689238"/>
            <a:chExt cx="431528" cy="369332"/>
          </a:xfrm>
        </p:grpSpPr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D6456584-AC6D-C385-9DC7-8EE045A3F35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1868C72A-C402-BFDC-D025-C6531776718A}"/>
                </a:ext>
              </a:extLst>
            </p:cNvPr>
            <p:cNvSpPr/>
            <p:nvPr/>
          </p:nvSpPr>
          <p:spPr>
            <a:xfrm>
              <a:off x="9576614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12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81611E1B-CCB5-4870-7F07-67A540D96C62}"/>
              </a:ext>
            </a:extLst>
          </p:cNvPr>
          <p:cNvSpPr/>
          <p:nvPr/>
        </p:nvSpPr>
        <p:spPr>
          <a:xfrm>
            <a:off x="1060539" y="6309115"/>
            <a:ext cx="810189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接收數據：當按下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OK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按鈕後選項將進入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禁用狀態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，代表已經進入接收狀態。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6E9894-E215-EF40-5222-E18968C179BB}"/>
              </a:ext>
            </a:extLst>
          </p:cNvPr>
          <p:cNvSpPr/>
          <p:nvPr/>
        </p:nvSpPr>
        <p:spPr bwMode="auto">
          <a:xfrm>
            <a:off x="4587207" y="2890730"/>
            <a:ext cx="1796825" cy="257147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E26401BD-6569-3D3D-AB62-EA19F8045A3B}"/>
              </a:ext>
            </a:extLst>
          </p:cNvPr>
          <p:cNvGrpSpPr/>
          <p:nvPr/>
        </p:nvGrpSpPr>
        <p:grpSpPr>
          <a:xfrm>
            <a:off x="6096000" y="2710185"/>
            <a:ext cx="431528" cy="369332"/>
            <a:chOff x="9576615" y="2689238"/>
            <a:chExt cx="431528" cy="369332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A0D92312-535D-2A08-5A71-4DF3EFEFE081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DF0C9D7-0F4F-8FA6-681D-E8B7E332903B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12</a:t>
              </a: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3C476273-F7A9-510F-BE31-017A952ADDDF}"/>
              </a:ext>
            </a:extLst>
          </p:cNvPr>
          <p:cNvSpPr/>
          <p:nvPr/>
        </p:nvSpPr>
        <p:spPr bwMode="auto">
          <a:xfrm>
            <a:off x="857003" y="2130331"/>
            <a:ext cx="3654821" cy="1017546"/>
          </a:xfrm>
          <a:prstGeom prst="rect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4DBAFB-6EBA-FC57-CD3A-A8A2B7511C2A}"/>
              </a:ext>
            </a:extLst>
          </p:cNvPr>
          <p:cNvSpPr/>
          <p:nvPr/>
        </p:nvSpPr>
        <p:spPr>
          <a:xfrm>
            <a:off x="7031684" y="1412776"/>
            <a:ext cx="4752528" cy="45550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狀況排除</a:t>
            </a:r>
            <a:r>
              <a:rPr lang="en-US" altLang="zh-TW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</a:t>
            </a:r>
            <a:r>
              <a:rPr lang="zh-TW" altLang="en-US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量測時系統無法接收數據</a:t>
            </a:r>
            <a:endParaRPr lang="en-US" altLang="zh-TW" b="1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未依照正確的運作流程</a:t>
            </a:r>
            <a:endParaRPr lang="en-US" altLang="zh-TW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A: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請重新整理網頁即可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情形</a:t>
            </a:r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1: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順序顛倒 </a:t>
            </a:r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網頁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→ 背景程式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情形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2: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背景程式未完全開啟時，就打開網頁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----------------------------------------------------------</a:t>
            </a:r>
          </a:p>
          <a:p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 沒有顯示 外比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酸化度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鉛塊重標準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請確認該規格在</a:t>
            </a:r>
            <a:r>
              <a:rPr lang="en-US" altLang="zh-TW" sz="1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WebISO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是否有標準，</a:t>
            </a:r>
            <a:b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</a:b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如有新的規格或是標準修訂，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請告知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MES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人員，並提出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程式客製需求單。</a:t>
            </a:r>
            <a:b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</a:br>
            <a:b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</a:b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情形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該規格沒有標準</a:t>
            </a:r>
            <a:endParaRPr lang="en-US" altLang="zh-TW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6527168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3E99-5E1C-3C27-FE10-8549F752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圖片 28">
            <a:extLst>
              <a:ext uri="{FF2B5EF4-FFF2-40B4-BE49-F238E27FC236}">
                <a16:creationId xmlns:a16="http://schemas.microsoft.com/office/drawing/2014/main" id="{E92491BF-6684-BED0-089F-F18C3E1D5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2" y="3896559"/>
            <a:ext cx="10668001" cy="157771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B8DD0F5-342B-1A96-3974-AFDF7F8C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常見問題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C96863-83F9-2436-2781-5561718C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24E031-F437-4524-4EE0-8F13664146BF}"/>
              </a:ext>
            </a:extLst>
          </p:cNvPr>
          <p:cNvSpPr/>
          <p:nvPr/>
        </p:nvSpPr>
        <p:spPr>
          <a:xfrm>
            <a:off x="745148" y="2915415"/>
            <a:ext cx="691385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請確認當下所量測的規格是陰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陽，並依循選擇該工單。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3D8AB22-FA04-93D8-5614-A52CB973C076}"/>
              </a:ext>
            </a:extLst>
          </p:cNvPr>
          <p:cNvSpPr/>
          <p:nvPr/>
        </p:nvSpPr>
        <p:spPr bwMode="auto">
          <a:xfrm>
            <a:off x="2589323" y="4160247"/>
            <a:ext cx="1612754" cy="31493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5D80E0B8-30AA-AD5E-E055-CD695360D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2" y="1271678"/>
            <a:ext cx="10668001" cy="157771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2E9D3226-1060-83B8-CD70-4CD9F7074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16" y="1807287"/>
            <a:ext cx="1602269" cy="547277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45E777ED-7514-3921-8338-17408C3CADDF}"/>
              </a:ext>
            </a:extLst>
          </p:cNvPr>
          <p:cNvSpPr/>
          <p:nvPr/>
        </p:nvSpPr>
        <p:spPr>
          <a:xfrm>
            <a:off x="719219" y="3464339"/>
            <a:ext cx="1075356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狀況情形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：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 鉛粉批號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班別時間到了沒有自動跳轉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該如何處理。</a:t>
            </a:r>
            <a:r>
              <a:rPr lang="en-US" altLang="zh-TW" sz="1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(</a:t>
            </a:r>
            <a:r>
              <a:rPr lang="zh-TW" altLang="en-US" sz="1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紅色選項會影響藍色選項</a:t>
            </a:r>
            <a:r>
              <a:rPr lang="en-US" altLang="zh-TW" sz="1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B5D5414F-6133-42A3-B5E2-CA020B24165D}"/>
              </a:ext>
            </a:extLst>
          </p:cNvPr>
          <p:cNvSpPr/>
          <p:nvPr/>
        </p:nvSpPr>
        <p:spPr bwMode="auto">
          <a:xfrm>
            <a:off x="851788" y="4704326"/>
            <a:ext cx="1631440" cy="289283"/>
          </a:xfrm>
          <a:prstGeom prst="roundRect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0149E53-5DE1-B28B-77F6-D97CC103BFB8}"/>
              </a:ext>
            </a:extLst>
          </p:cNvPr>
          <p:cNvSpPr/>
          <p:nvPr/>
        </p:nvSpPr>
        <p:spPr>
          <a:xfrm>
            <a:off x="680672" y="5442889"/>
            <a:ext cx="1075356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當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系統未自動切換班別時，請改用手動方式變更。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影響原因：網路斷線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…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等導致當下觸發失敗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  <a:b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</a:b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因此為確保數據準確性，請手動切換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重新觸發鉛粉批號的選項。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B3A8AAE-0B6A-C3DD-6BD3-C6BD8300DC5C}"/>
              </a:ext>
            </a:extLst>
          </p:cNvPr>
          <p:cNvSpPr/>
          <p:nvPr/>
        </p:nvSpPr>
        <p:spPr>
          <a:xfrm>
            <a:off x="756520" y="6352572"/>
            <a:ext cx="1075356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若手動切換無法跳轉班別請通知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MES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人員處理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6620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A5173-C82D-55B5-F2B2-FFAA8F23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圖片 48">
            <a:extLst>
              <a:ext uri="{FF2B5EF4-FFF2-40B4-BE49-F238E27FC236}">
                <a16:creationId xmlns:a16="http://schemas.microsoft.com/office/drawing/2014/main" id="{CE323901-043A-18C8-3CED-FA520EE35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2" y="1360236"/>
            <a:ext cx="10667539" cy="451703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4A94958-CEF9-ED23-15D8-1AFC7B01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/>
              <a:t>SPC</a:t>
            </a:r>
            <a:r>
              <a:rPr lang="zh-TW" altLang="en-US" sz="4000" b="1" dirty="0"/>
              <a:t> 系統控卡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320DE1-0058-42FF-750E-C5FE9796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92171" y="639580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2E08C88-7130-3CDE-EBEA-427BD2BCC404}"/>
              </a:ext>
            </a:extLst>
          </p:cNvPr>
          <p:cNvSpPr/>
          <p:nvPr/>
        </p:nvSpPr>
        <p:spPr bwMode="auto">
          <a:xfrm>
            <a:off x="817050" y="3423703"/>
            <a:ext cx="10543130" cy="276742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C9D8D98D-E76A-CABC-0671-F5B6619B5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278" y="3784690"/>
            <a:ext cx="3105444" cy="20205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AB73BC35-4CEE-A6D1-30CD-3B6B7A99961B}"/>
              </a:ext>
            </a:extLst>
          </p:cNvPr>
          <p:cNvGrpSpPr/>
          <p:nvPr/>
        </p:nvGrpSpPr>
        <p:grpSpPr>
          <a:xfrm>
            <a:off x="11039039" y="3482696"/>
            <a:ext cx="431528" cy="369332"/>
            <a:chOff x="9576615" y="2689238"/>
            <a:chExt cx="431528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E64E9A6B-9A14-4D5B-6AB4-4DCB8E5DFAD9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A52362F-2F2B-130E-3BA2-E2B6627598F2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13</a:t>
              </a: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AF43684D-8CBC-67DE-CBB4-20EC1E8F957A}"/>
              </a:ext>
            </a:extLst>
          </p:cNvPr>
          <p:cNvGrpSpPr/>
          <p:nvPr/>
        </p:nvGrpSpPr>
        <p:grpSpPr>
          <a:xfrm>
            <a:off x="1991544" y="6352572"/>
            <a:ext cx="431528" cy="369332"/>
            <a:chOff x="9576615" y="2689238"/>
            <a:chExt cx="431528" cy="369332"/>
          </a:xfrm>
        </p:grpSpPr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8C210679-DB74-0891-C09F-B18D9D47F2E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60048FB-5A45-340D-0C89-ABDBCD1FF560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13</a:t>
              </a: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6F1CC100-6F5F-00CC-92A0-F30357208D68}"/>
              </a:ext>
            </a:extLst>
          </p:cNvPr>
          <p:cNvSpPr/>
          <p:nvPr/>
        </p:nvSpPr>
        <p:spPr>
          <a:xfrm>
            <a:off x="751462" y="6352572"/>
            <a:ext cx="1047434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若該區塊          沒有輸入數值就按下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確認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按鍵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, 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系統將彈出視窗告知並攔截此次數據接收的動作。 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cxnSp>
        <p:nvCxnSpPr>
          <p:cNvPr id="40" name="直線單箭頭接點 40">
            <a:extLst>
              <a:ext uri="{FF2B5EF4-FFF2-40B4-BE49-F238E27FC236}">
                <a16:creationId xmlns:a16="http://schemas.microsoft.com/office/drawing/2014/main" id="{1B876B18-729F-E157-4F0D-D70CDEDBE1AA}"/>
              </a:ext>
            </a:extLst>
          </p:cNvPr>
          <p:cNvCxnSpPr>
            <a:cxnSpLocks/>
            <a:stCxn id="35" idx="3"/>
            <a:endCxn id="30" idx="3"/>
          </p:cNvCxnSpPr>
          <p:nvPr/>
        </p:nvCxnSpPr>
        <p:spPr>
          <a:xfrm flipH="1">
            <a:off x="7648722" y="3667362"/>
            <a:ext cx="3821845" cy="1127615"/>
          </a:xfrm>
          <a:prstGeom prst="bentConnector3">
            <a:avLst>
              <a:gd name="adj1" fmla="val -5981"/>
            </a:avLst>
          </a:prstGeom>
          <a:ln w="381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32756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2316-9AD8-5381-3B59-44640E02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8CF771-FA95-B34C-6F8B-CBF79D4D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/>
              <a:t>SPC</a:t>
            </a:r>
            <a:r>
              <a:rPr lang="zh-TW" altLang="en-US" sz="4000" b="1" dirty="0"/>
              <a:t> 系統控卡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066D69-BADC-341D-1F63-5E1ACF02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92171" y="639580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4C117F6-E8EF-5B23-C27F-09437724A285}"/>
              </a:ext>
            </a:extLst>
          </p:cNvPr>
          <p:cNvGrpSpPr/>
          <p:nvPr/>
        </p:nvGrpSpPr>
        <p:grpSpPr>
          <a:xfrm>
            <a:off x="1007302" y="6352572"/>
            <a:ext cx="431528" cy="369332"/>
            <a:chOff x="9576615" y="2689238"/>
            <a:chExt cx="431528" cy="369332"/>
          </a:xfrm>
        </p:grpSpPr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9C0321D8-A9E1-E38E-DF20-08F3B2BBA502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A5A3208-82BF-A280-E79F-F2A13B64D792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14</a:t>
              </a: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50D12D7E-1AF1-0912-BFC2-A7C54F27D119}"/>
              </a:ext>
            </a:extLst>
          </p:cNvPr>
          <p:cNvSpPr/>
          <p:nvPr/>
        </p:nvSpPr>
        <p:spPr>
          <a:xfrm>
            <a:off x="751462" y="6352572"/>
            <a:ext cx="4716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 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5" name="圖片 4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2AE0E985-A784-7BE7-4C1F-2BB011417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41" y="1268760"/>
            <a:ext cx="6080547" cy="4674420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44366C0C-A0E7-2268-F448-5C769CB2FA75}"/>
              </a:ext>
            </a:extLst>
          </p:cNvPr>
          <p:cNvGrpSpPr/>
          <p:nvPr/>
        </p:nvGrpSpPr>
        <p:grpSpPr>
          <a:xfrm>
            <a:off x="6628818" y="5686506"/>
            <a:ext cx="475294" cy="406790"/>
            <a:chOff x="9576615" y="2689238"/>
            <a:chExt cx="431528" cy="369332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4C830D37-5911-DEBE-D1FA-3C4BEB47DEF3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13929C4-B661-EDD8-95EB-61C38DC356F4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14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9ECD0A44-AE7A-9E88-0ACA-AE88449F057D}"/>
              </a:ext>
            </a:extLst>
          </p:cNvPr>
          <p:cNvSpPr/>
          <p:nvPr/>
        </p:nvSpPr>
        <p:spPr>
          <a:xfrm>
            <a:off x="7320137" y="1301158"/>
            <a:ext cx="2304256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系統控卡邏輯：</a:t>
            </a:r>
            <a:endParaRPr lang="en-US" altLang="zh-TW" sz="1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鉛塊重量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2/3):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min: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75,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max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120</a:t>
            </a: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</a:t>
            </a: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空杯重量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min: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90,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max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120</a:t>
            </a: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</a:t>
            </a: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鉛片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min: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3,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max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10</a:t>
            </a: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4C56AF-C9D0-354A-BD2D-AFF64C52CC1C}"/>
              </a:ext>
            </a:extLst>
          </p:cNvPr>
          <p:cNvSpPr/>
          <p:nvPr/>
        </p:nvSpPr>
        <p:spPr>
          <a:xfrm>
            <a:off x="1329048" y="6347072"/>
            <a:ext cx="1075356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低於該範圍或是高於該範圍，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系統會自動彈出視窗告知操作人員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C727B5-6276-8489-E546-8F0ED8991357}"/>
              </a:ext>
            </a:extLst>
          </p:cNvPr>
          <p:cNvSpPr/>
          <p:nvPr/>
        </p:nvSpPr>
        <p:spPr>
          <a:xfrm>
            <a:off x="7320137" y="4614110"/>
            <a:ext cx="468052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因二廠量測時磅秤非手動按壓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並且與量測時與電腦分隔，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因此控卡時無須手動關閉視窗 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系統將於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5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秒內自動關閉 以利現場人員操作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0DACD0-A032-7641-BFA6-D5E388AEE2F4}"/>
              </a:ext>
            </a:extLst>
          </p:cNvPr>
          <p:cNvSpPr/>
          <p:nvPr/>
        </p:nvSpPr>
        <p:spPr>
          <a:xfrm>
            <a:off x="9624393" y="1844824"/>
            <a:ext cx="230425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鉛塊重量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4):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     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min: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130,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max: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180</a:t>
            </a: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</a:t>
            </a: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鉛塊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+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空杯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min: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120,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max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162</a:t>
            </a: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33800646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2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9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1725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73AF34-EC42-4013-981E-DB7623898E0C}" type="slidenum">
              <a:rPr kumimoji="0" lang="en-US" altLang="zh-TW" sz="9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zh-TW" sz="900"/>
          </a:p>
        </p:txBody>
      </p:sp>
      <p:sp>
        <p:nvSpPr>
          <p:cNvPr id="9" name="文字方塊 8"/>
          <p:cNvSpPr txBox="1"/>
          <p:nvPr/>
        </p:nvSpPr>
        <p:spPr>
          <a:xfrm>
            <a:off x="3827749" y="3104964"/>
            <a:ext cx="468269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6600" b="1" dirty="0">
                <a:solidFill>
                  <a:schemeClr val="accent6"/>
                </a:solidFill>
              </a:rPr>
              <a:t>Thank You</a:t>
            </a:r>
            <a:endParaRPr lang="zh-TW" altLang="en-US" sz="6600" b="1" dirty="0">
              <a:solidFill>
                <a:schemeClr val="accent6"/>
              </a:solidFill>
            </a:endParaRPr>
          </a:p>
        </p:txBody>
      </p:sp>
      <p:pic>
        <p:nvPicPr>
          <p:cNvPr id="3" name="圖片 4">
            <a:extLst>
              <a:ext uri="{FF2B5EF4-FFF2-40B4-BE49-F238E27FC236}">
                <a16:creationId xmlns:a16="http://schemas.microsoft.com/office/drawing/2014/main" id="{B61F5CCA-8304-275B-7836-A71722FDAF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353134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>
          <a:solidFill>
            <a:schemeClr val="accent2"/>
          </a:solidFill>
          <a:round/>
          <a:headEnd/>
          <a:tailEnd/>
        </a:ln>
      </a:spPr>
      <a:bodyPr/>
      <a:lstStyle>
        <a:defPPr>
          <a:defRPr/>
        </a:defPPr>
      </a:lstStyle>
    </a:sp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8117</TotalTime>
  <Words>579</Words>
  <Application>Microsoft Office PowerPoint</Application>
  <PresentationFormat>寬螢幕</PresentationFormat>
  <Paragraphs>109</Paragraphs>
  <Slides>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微軟正黑體</vt:lpstr>
      <vt:lpstr>標楷體</vt:lpstr>
      <vt:lpstr>Aptos</vt:lpstr>
      <vt:lpstr>Arial</vt:lpstr>
      <vt:lpstr>Tahoma</vt:lpstr>
      <vt:lpstr>Verdana</vt:lpstr>
      <vt:lpstr>Wingdings</vt:lpstr>
      <vt:lpstr>Profile</vt:lpstr>
      <vt:lpstr>PowerPoint 簡報</vt:lpstr>
      <vt:lpstr>整體運作流程</vt:lpstr>
      <vt:lpstr>頁面功能介紹</vt:lpstr>
      <vt:lpstr>如何接收現場設備數據?</vt:lpstr>
      <vt:lpstr>常見問題</vt:lpstr>
      <vt:lpstr>SPC 系統控卡</vt:lpstr>
      <vt:lpstr>SPC 系統控卡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MichaelLee</dc:creator>
  <cp:lastModifiedBy>蔡德龍 / TSAI，TE-LUNG</cp:lastModifiedBy>
  <cp:revision>932</cp:revision>
  <cp:lastPrinted>2022-08-12T03:29:57Z</cp:lastPrinted>
  <dcterms:created xsi:type="dcterms:W3CDTF">2004-02-23T01:50:34Z</dcterms:created>
  <dcterms:modified xsi:type="dcterms:W3CDTF">2025-05-09T07:52:02Z</dcterms:modified>
</cp:coreProperties>
</file>