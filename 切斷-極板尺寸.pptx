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11"/>
  </p:notesMasterIdLst>
  <p:handoutMasterIdLst>
    <p:handoutMasterId r:id="rId12"/>
  </p:handoutMasterIdLst>
  <p:sldIdLst>
    <p:sldId id="627" r:id="rId2"/>
    <p:sldId id="734" r:id="rId3"/>
    <p:sldId id="735" r:id="rId4"/>
    <p:sldId id="739" r:id="rId5"/>
    <p:sldId id="740" r:id="rId6"/>
    <p:sldId id="737" r:id="rId7"/>
    <p:sldId id="738" r:id="rId8"/>
    <p:sldId id="736" r:id="rId9"/>
    <p:sldId id="715" r:id="rId10"/>
  </p:sldIdLst>
  <p:sldSz cx="12192000" cy="6858000"/>
  <p:notesSz cx="7104063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ahoma" panose="020B0604030504040204" pitchFamily="34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CC"/>
    <a:srgbClr val="C8C8C8"/>
    <a:srgbClr val="3333FF"/>
    <a:srgbClr val="CC0000"/>
    <a:srgbClr val="33CC33"/>
    <a:srgbClr val="FFFF66"/>
    <a:srgbClr val="6AECFA"/>
    <a:srgbClr val="CC33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854" autoAdjust="0"/>
  </p:normalViewPr>
  <p:slideViewPr>
    <p:cSldViewPr>
      <p:cViewPr varScale="1">
        <p:scale>
          <a:sx n="106" d="100"/>
          <a:sy n="106" d="100"/>
        </p:scale>
        <p:origin x="57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06"/>
    </p:cViewPr>
  </p:sorterViewPr>
  <p:notesViewPr>
    <p:cSldViewPr>
      <p:cViewPr varScale="1">
        <p:scale>
          <a:sx n="60" d="100"/>
          <a:sy n="60" d="100"/>
        </p:scale>
        <p:origin x="-1098" y="-78"/>
      </p:cViewPr>
      <p:guideLst>
        <p:guide orient="horz" pos="3225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6CEE0F9E-EE3A-4D85-92B4-709945D07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3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5" y="4861155"/>
            <a:ext cx="5683914" cy="4607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203" y="9720673"/>
            <a:ext cx="3079202" cy="512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8" tIns="47394" rIns="94788" bIns="4739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4224DF-4E30-468D-ADED-F7DAE3824D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1288" y="766763"/>
            <a:ext cx="6821487" cy="3838575"/>
          </a:xfrm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  <p:sp>
        <p:nvSpPr>
          <p:cNvPr id="188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BACD1E-A16D-4786-9CD7-B84F37C1D9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605324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CDCC6-45B8-42E7-8F1E-49E4E4D3993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5948058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D5C6-56FA-42ED-AE44-7CE311F2ED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089902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BAE39-692D-4733-906E-783359E440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7908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42BDA-F8C6-4831-B90E-DC86D50D975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944403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221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463BD-0654-495C-8589-030B56BF6C1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99176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D2A8A-688F-471F-8FD5-2EEFEC81CD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091516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9842D4-7EDE-4F56-AAD4-2680D6E5CA1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645173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E26C6-C172-4121-8CB6-1145652BC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649383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0DF1C-9BC7-4593-8663-0EBC909EBB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45853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60463-0CC8-4BF9-8D12-A93E1E1413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56059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DBE4E-A6C9-4470-A0E1-44EAAC7B35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3459074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195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340768"/>
            <a:ext cx="10812957" cy="4679032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8F3DF5-56DA-4780-8A62-806AF3EFD1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11189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53459-96B2-477B-8DA4-D2377AC8678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66924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標題，四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sz="quarter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556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6191251" y="17526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7556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1251" y="3962400"/>
            <a:ext cx="5232400" cy="2057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A6F7D-5046-4531-A78D-5D6F838272B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725590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755651" y="304800"/>
            <a:ext cx="10678583" cy="5715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DEB62-5E13-4BC4-BE8E-7F0C759D3E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29495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sz="2000"/>
          </a:p>
        </p:txBody>
      </p:sp>
      <p:sp>
        <p:nvSpPr>
          <p:cNvPr id="1873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3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74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48842BDA-F8C6-4831-B90E-DC86D50D97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93" y="370788"/>
            <a:ext cx="1474959" cy="540161"/>
          </a:xfrm>
          <a:prstGeom prst="rect">
            <a:avLst/>
          </a:prstGeom>
        </p:spPr>
      </p:pic>
      <p:sp>
        <p:nvSpPr>
          <p:cNvPr id="13" name="AutoShape 4"/>
          <p:cNvSpPr>
            <a:spLocks noChangeArrowheads="1"/>
          </p:cNvSpPr>
          <p:nvPr userDrawn="1"/>
        </p:nvSpPr>
        <p:spPr bwMode="auto">
          <a:xfrm>
            <a:off x="768349" y="947461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connsiteX0" fmla="*/ 0 w 10000"/>
              <a:gd name="connsiteY0" fmla="*/ 0 h 10000"/>
              <a:gd name="connsiteX1" fmla="*/ 5850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0" fmla="*/ 0 w 10000"/>
              <a:gd name="connsiteY0" fmla="*/ 0 h 10000"/>
              <a:gd name="connsiteX1" fmla="*/ 3552 w 10000"/>
              <a:gd name="connsiteY1" fmla="*/ 0 h 10000"/>
              <a:gd name="connsiteX2" fmla="*/ 3552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000" h="10000" stroke="0">
                <a:moveTo>
                  <a:pt x="0" y="0"/>
                </a:moveTo>
                <a:lnTo>
                  <a:pt x="3552" y="0"/>
                </a:lnTo>
                <a:lnTo>
                  <a:pt x="3552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  <a:path w="10000" h="10000">
                <a:moveTo>
                  <a:pt x="0" y="0"/>
                </a:moveTo>
                <a:lnTo>
                  <a:pt x="10000" y="0"/>
                </a:lnTo>
              </a:path>
            </a:pathLst>
          </a:custGeom>
          <a:solidFill>
            <a:schemeClr val="accent2"/>
          </a:solidFill>
          <a:ln w="9525" cap="sq" cmpd="thinThick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TW" alt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38" r:id="rId2"/>
    <p:sldLayoutId id="2147484639" r:id="rId3"/>
    <p:sldLayoutId id="2147484640" r:id="rId4"/>
    <p:sldLayoutId id="2147484653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  <p:sldLayoutId id="2147484651" r:id="rId16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800">
          <a:solidFill>
            <a:schemeClr val="tx2"/>
          </a:solidFill>
          <a:latin typeface="Verdana" pitchFamily="34" charset="0"/>
          <a:ea typeface="新細明體" pitchFamily="18" charset="-12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090738" y="1196751"/>
            <a:ext cx="8109718" cy="489305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endParaRPr lang="en-US" altLang="zh-TW" sz="36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切斷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-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極板尺寸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90000"/>
              </a:lnSpc>
              <a:buNone/>
            </a:pP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品質管理系統</a:t>
            </a:r>
            <a:endParaRPr lang="en-US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122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3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3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2182C3D-857D-40A3-813F-830C9D5DD49A}" type="slidenum">
              <a:rPr kumimoji="0" lang="en-US" altLang="zh-TW" sz="1200"/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kumimoji="0" lang="en-US" altLang="zh-TW" sz="1200"/>
          </a:p>
        </p:txBody>
      </p:sp>
      <p:pic>
        <p:nvPicPr>
          <p:cNvPr id="5126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240360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文字方塊 1"/>
          <p:cNvSpPr txBox="1">
            <a:spLocks noChangeArrowheads="1"/>
          </p:cNvSpPr>
          <p:nvPr/>
        </p:nvSpPr>
        <p:spPr bwMode="auto">
          <a:xfrm>
            <a:off x="2526842" y="4581128"/>
            <a:ext cx="7128792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 algn="ctr"/>
            <a:endParaRPr lang="en-US" altLang="zh-TW" b="1" dirty="0">
              <a:latin typeface="+mn-ea"/>
              <a:ea typeface="+mn-ea"/>
            </a:endParaRPr>
          </a:p>
          <a:p>
            <a:pPr algn="ctr"/>
            <a:r>
              <a:rPr lang="zh-TW" altLang="en-US" sz="3200" b="1" dirty="0">
                <a:latin typeface="+mn-ea"/>
                <a:ea typeface="+mn-ea"/>
              </a:rPr>
              <a:t>資訊中心</a:t>
            </a:r>
            <a:endParaRPr lang="en-US" altLang="zh-TW" sz="32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09AF8-5F15-7CC1-CB8D-AB60E512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圖片 26">
            <a:extLst>
              <a:ext uri="{FF2B5EF4-FFF2-40B4-BE49-F238E27FC236}">
                <a16:creationId xmlns:a16="http://schemas.microsoft.com/office/drawing/2014/main" id="{9B4B0425-C4A1-B0BD-F25B-58406E92C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34" y="1263292"/>
            <a:ext cx="6542850" cy="46268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16715C57-06EE-314B-0D39-64AD8F89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頁面功能介紹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D55765-C97D-53CA-006A-9F3AFA2D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44636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91D900E-E685-4246-2E01-59E69C23C9B6}"/>
              </a:ext>
            </a:extLst>
          </p:cNvPr>
          <p:cNvGrpSpPr/>
          <p:nvPr/>
        </p:nvGrpSpPr>
        <p:grpSpPr>
          <a:xfrm>
            <a:off x="8129111" y="1295635"/>
            <a:ext cx="311304" cy="369332"/>
            <a:chOff x="9630717" y="2687879"/>
            <a:chExt cx="311304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6B97029-7DBB-EA9C-9D03-4B0109263759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DE4B52F-3C30-F160-1333-7499331ED43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AAF6E9B7-1267-A0F7-F2EF-69DB0C32CB23}"/>
              </a:ext>
            </a:extLst>
          </p:cNvPr>
          <p:cNvSpPr/>
          <p:nvPr/>
        </p:nvSpPr>
        <p:spPr bwMode="auto">
          <a:xfrm>
            <a:off x="913170" y="2188139"/>
            <a:ext cx="973175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75863DDB-C72B-F5E3-874F-4729ADC0B8F7}"/>
              </a:ext>
            </a:extLst>
          </p:cNvPr>
          <p:cNvGrpSpPr/>
          <p:nvPr/>
        </p:nvGrpSpPr>
        <p:grpSpPr>
          <a:xfrm>
            <a:off x="1626337" y="2161864"/>
            <a:ext cx="260008" cy="261610"/>
            <a:chOff x="9608146" y="2687879"/>
            <a:chExt cx="356442" cy="382953"/>
          </a:xfrm>
        </p:grpSpPr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0FE49951-EC0B-B23D-2816-5124BCB99C4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A5209E9-ADC2-AF4E-484A-FA032279E8A1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</a:t>
              </a: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3A94B0C3-1E28-4940-F454-E0DEF35C22D3}"/>
              </a:ext>
            </a:extLst>
          </p:cNvPr>
          <p:cNvGrpSpPr/>
          <p:nvPr/>
        </p:nvGrpSpPr>
        <p:grpSpPr>
          <a:xfrm>
            <a:off x="8126912" y="1730653"/>
            <a:ext cx="311304" cy="369332"/>
            <a:chOff x="9630717" y="2687879"/>
            <a:chExt cx="311304" cy="369332"/>
          </a:xfrm>
        </p:grpSpPr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F69C5CC5-2019-1718-2524-855E10CA47D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C1ED438A-819B-200F-545A-6FCB20F5DD1F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07344267-839A-8806-9E00-B05AD95EF7BE}"/>
              </a:ext>
            </a:extLst>
          </p:cNvPr>
          <p:cNvGrpSpPr/>
          <p:nvPr/>
        </p:nvGrpSpPr>
        <p:grpSpPr>
          <a:xfrm>
            <a:off x="8127521" y="2194934"/>
            <a:ext cx="311304" cy="369332"/>
            <a:chOff x="9630717" y="2687879"/>
            <a:chExt cx="311304" cy="369332"/>
          </a:xfrm>
        </p:grpSpPr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D9789153-13C6-6461-070A-0357CDC3C10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5E4DE05B-3BA1-7F54-4EDC-A17F26F009EF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F00A0EFC-1455-2749-06EC-E668A6672F55}"/>
              </a:ext>
            </a:extLst>
          </p:cNvPr>
          <p:cNvGrpSpPr/>
          <p:nvPr/>
        </p:nvGrpSpPr>
        <p:grpSpPr>
          <a:xfrm>
            <a:off x="8140364" y="2618707"/>
            <a:ext cx="311304" cy="369332"/>
            <a:chOff x="9630717" y="2687879"/>
            <a:chExt cx="311304" cy="369332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C611EFB0-F43D-AB59-E46B-2984B437DACA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F01766C4-4EEE-C50D-4A65-D7DBFE3D5019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2A2EB06D-BE9F-2D12-0126-6C1125B70AFF}"/>
              </a:ext>
            </a:extLst>
          </p:cNvPr>
          <p:cNvGrpSpPr/>
          <p:nvPr/>
        </p:nvGrpSpPr>
        <p:grpSpPr>
          <a:xfrm>
            <a:off x="8138165" y="3038349"/>
            <a:ext cx="311304" cy="369332"/>
            <a:chOff x="9630717" y="2687879"/>
            <a:chExt cx="311304" cy="369332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4AEBD9DD-B77E-973E-1BCE-F6F2EF46B26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081372D-DDCD-8A1F-1F55-EA6D1264FFC7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9A01B952-1F3D-0A87-599A-B0E242DC0F4B}"/>
              </a:ext>
            </a:extLst>
          </p:cNvPr>
          <p:cNvGrpSpPr/>
          <p:nvPr/>
        </p:nvGrpSpPr>
        <p:grpSpPr>
          <a:xfrm>
            <a:off x="8138774" y="3441021"/>
            <a:ext cx="311304" cy="369332"/>
            <a:chOff x="9630717" y="2687879"/>
            <a:chExt cx="311304" cy="369332"/>
          </a:xfrm>
        </p:grpSpPr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986138A6-2397-56F7-9E54-3FDC2F0DADF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FD2D3C7B-A429-24C5-9F85-88FAE6BD17F8}"/>
                </a:ext>
              </a:extLst>
            </p:cNvPr>
            <p:cNvSpPr/>
            <p:nvPr/>
          </p:nvSpPr>
          <p:spPr>
            <a:xfrm>
              <a:off x="9630717" y="2687879"/>
              <a:ext cx="311304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1297E275-AB51-CB20-998E-F5050AC70CA1}"/>
              </a:ext>
            </a:extLst>
          </p:cNvPr>
          <p:cNvGrpSpPr/>
          <p:nvPr/>
        </p:nvGrpSpPr>
        <p:grpSpPr>
          <a:xfrm>
            <a:off x="8139768" y="3854942"/>
            <a:ext cx="308098" cy="369332"/>
            <a:chOff x="9632320" y="2687879"/>
            <a:chExt cx="308098" cy="369332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5001BF23-79E2-08BC-8EB9-D4609FBFB8D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B1D60A15-7741-8DCE-86F4-F9065161789E}"/>
                </a:ext>
              </a:extLst>
            </p:cNvPr>
            <p:cNvSpPr/>
            <p:nvPr/>
          </p:nvSpPr>
          <p:spPr>
            <a:xfrm>
              <a:off x="9632320" y="2687879"/>
              <a:ext cx="30809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A2370C4E-585F-9636-B487-52B17625593D}"/>
              </a:ext>
            </a:extLst>
          </p:cNvPr>
          <p:cNvSpPr/>
          <p:nvPr/>
        </p:nvSpPr>
        <p:spPr>
          <a:xfrm>
            <a:off x="8433895" y="1284350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格子體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75E6D3D-6DE4-3E7E-4767-E6595D5FF037}"/>
              </a:ext>
            </a:extLst>
          </p:cNvPr>
          <p:cNvSpPr/>
          <p:nvPr/>
        </p:nvSpPr>
        <p:spPr>
          <a:xfrm>
            <a:off x="8454558" y="1727513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規格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929DE7-DC28-1EBB-4C28-5B72181CFF0E}"/>
              </a:ext>
            </a:extLst>
          </p:cNvPr>
          <p:cNvSpPr/>
          <p:nvPr/>
        </p:nvSpPr>
        <p:spPr>
          <a:xfrm>
            <a:off x="8422644" y="2206865"/>
            <a:ext cx="216597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機台編碼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機台名稱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F464795-1927-E495-657C-4F2A3908205B}"/>
              </a:ext>
            </a:extLst>
          </p:cNvPr>
          <p:cNvSpPr/>
          <p:nvPr/>
        </p:nvSpPr>
        <p:spPr>
          <a:xfrm>
            <a:off x="8415912" y="2616507"/>
            <a:ext cx="193514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機台編碼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幾號機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74A7CC0C-A551-4965-CF00-4E6A6BD6B600}"/>
              </a:ext>
            </a:extLst>
          </p:cNvPr>
          <p:cNvSpPr/>
          <p:nvPr/>
        </p:nvSpPr>
        <p:spPr>
          <a:xfrm>
            <a:off x="8414579" y="3033745"/>
            <a:ext cx="224292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操作人員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23B519E8-6829-4A66-323A-261674B9AB23}"/>
              </a:ext>
            </a:extLst>
          </p:cNvPr>
          <p:cNvSpPr/>
          <p:nvPr/>
        </p:nvSpPr>
        <p:spPr>
          <a:xfrm>
            <a:off x="8414578" y="3430834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日期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774A138-8047-B24A-3D92-DD76B6E8DC36}"/>
              </a:ext>
            </a:extLst>
          </p:cNvPr>
          <p:cNvSpPr/>
          <p:nvPr/>
        </p:nvSpPr>
        <p:spPr>
          <a:xfrm>
            <a:off x="8414578" y="3850663"/>
            <a:ext cx="133882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未化板批號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0454CE6D-D2EC-637C-7641-1C9FA05C541A}"/>
              </a:ext>
            </a:extLst>
          </p:cNvPr>
          <p:cNvGrpSpPr/>
          <p:nvPr/>
        </p:nvGrpSpPr>
        <p:grpSpPr>
          <a:xfrm>
            <a:off x="8153740" y="4267330"/>
            <a:ext cx="308097" cy="369332"/>
            <a:chOff x="9632320" y="2687879"/>
            <a:chExt cx="308097" cy="369332"/>
          </a:xfrm>
        </p:grpSpPr>
        <p:sp>
          <p:nvSpPr>
            <p:cNvPr id="129" name="橢圓 128">
              <a:extLst>
                <a:ext uri="{FF2B5EF4-FFF2-40B4-BE49-F238E27FC236}">
                  <a16:creationId xmlns:a16="http://schemas.microsoft.com/office/drawing/2014/main" id="{2CCE9EF6-3F06-CAF1-009E-F39624A7F5F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5FF3837-5E01-AE06-0388-251DAC79F246}"/>
                </a:ext>
              </a:extLst>
            </p:cNvPr>
            <p:cNvSpPr/>
            <p:nvPr/>
          </p:nvSpPr>
          <p:spPr>
            <a:xfrm>
              <a:off x="9632320" y="2687879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31" name="矩形 130">
            <a:extLst>
              <a:ext uri="{FF2B5EF4-FFF2-40B4-BE49-F238E27FC236}">
                <a16:creationId xmlns:a16="http://schemas.microsoft.com/office/drawing/2014/main" id="{260FAB37-14D5-66C7-E295-1CBD344D8F97}"/>
              </a:ext>
            </a:extLst>
          </p:cNvPr>
          <p:cNvSpPr/>
          <p:nvPr/>
        </p:nvSpPr>
        <p:spPr>
          <a:xfrm>
            <a:off x="8414577" y="4265456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鐵架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E07B4FFF-49C7-0850-0514-2293B7099757}"/>
              </a:ext>
            </a:extLst>
          </p:cNvPr>
          <p:cNvGrpSpPr/>
          <p:nvPr/>
        </p:nvGrpSpPr>
        <p:grpSpPr>
          <a:xfrm>
            <a:off x="8154871" y="4681941"/>
            <a:ext cx="308097" cy="369332"/>
            <a:chOff x="9632320" y="2687879"/>
            <a:chExt cx="308097" cy="369332"/>
          </a:xfrm>
        </p:grpSpPr>
        <p:sp>
          <p:nvSpPr>
            <p:cNvPr id="137" name="橢圓 136">
              <a:extLst>
                <a:ext uri="{FF2B5EF4-FFF2-40B4-BE49-F238E27FC236}">
                  <a16:creationId xmlns:a16="http://schemas.microsoft.com/office/drawing/2014/main" id="{7C298DDA-6CA5-4440-BD0E-E21B8ED74E9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9A79FB98-FC34-64F3-C0D2-EE2A6D0A2859}"/>
                </a:ext>
              </a:extLst>
            </p:cNvPr>
            <p:cNvSpPr/>
            <p:nvPr/>
          </p:nvSpPr>
          <p:spPr>
            <a:xfrm>
              <a:off x="9632320" y="2687879"/>
              <a:ext cx="308097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39" name="矩形 138">
            <a:extLst>
              <a:ext uri="{FF2B5EF4-FFF2-40B4-BE49-F238E27FC236}">
                <a16:creationId xmlns:a16="http://schemas.microsoft.com/office/drawing/2014/main" id="{C6EC2594-4ED9-8EB3-3318-8BB8EC26D05D}"/>
              </a:ext>
            </a:extLst>
          </p:cNvPr>
          <p:cNvSpPr/>
          <p:nvPr/>
        </p:nvSpPr>
        <p:spPr>
          <a:xfrm>
            <a:off x="8422642" y="4666824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工單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15DF06E4-79CC-2DA3-C1B9-6FF99A6F7EF4}"/>
              </a:ext>
            </a:extLst>
          </p:cNvPr>
          <p:cNvSpPr/>
          <p:nvPr/>
        </p:nvSpPr>
        <p:spPr>
          <a:xfrm>
            <a:off x="766233" y="6310274"/>
            <a:ext cx="3703258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滑鼠點選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導覽列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可展開功能視窗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951E5C-CB57-6C97-61D7-E77A2A80E5F6}"/>
              </a:ext>
            </a:extLst>
          </p:cNvPr>
          <p:cNvSpPr/>
          <p:nvPr/>
        </p:nvSpPr>
        <p:spPr>
          <a:xfrm>
            <a:off x="3910899" y="2202420"/>
            <a:ext cx="18473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altLang="zh-TW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94BAD33-8850-0A51-9C81-1D93AAF9F775}"/>
              </a:ext>
            </a:extLst>
          </p:cNvPr>
          <p:cNvSpPr/>
          <p:nvPr/>
        </p:nvSpPr>
        <p:spPr bwMode="auto">
          <a:xfrm>
            <a:off x="1980381" y="2188139"/>
            <a:ext cx="973175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B9596B60-1EA2-5FCC-755F-D6620A2A46A3}"/>
              </a:ext>
            </a:extLst>
          </p:cNvPr>
          <p:cNvGrpSpPr/>
          <p:nvPr/>
        </p:nvGrpSpPr>
        <p:grpSpPr>
          <a:xfrm>
            <a:off x="2693548" y="2161864"/>
            <a:ext cx="260008" cy="261610"/>
            <a:chOff x="9608146" y="2687879"/>
            <a:chExt cx="356442" cy="382953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72750D00-33E7-DC80-4D9C-95CCADCF57F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3034B12-61D4-596C-3CE0-9011C783AD55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2</a:t>
              </a:r>
            </a:p>
          </p:txBody>
        </p:sp>
      </p:grp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6B5D6C84-43C7-F109-A647-A8A20E5A5556}"/>
              </a:ext>
            </a:extLst>
          </p:cNvPr>
          <p:cNvSpPr/>
          <p:nvPr/>
        </p:nvSpPr>
        <p:spPr bwMode="auto">
          <a:xfrm>
            <a:off x="3060675" y="2188139"/>
            <a:ext cx="973175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C1F19916-AA90-6FBF-189B-34D39FB7320E}"/>
              </a:ext>
            </a:extLst>
          </p:cNvPr>
          <p:cNvGrpSpPr/>
          <p:nvPr/>
        </p:nvGrpSpPr>
        <p:grpSpPr>
          <a:xfrm>
            <a:off x="3773842" y="2161864"/>
            <a:ext cx="260008" cy="261610"/>
            <a:chOff x="9608146" y="2687879"/>
            <a:chExt cx="356442" cy="382953"/>
          </a:xfrm>
        </p:grpSpPr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DF5EAA76-3400-A5D2-2C71-829F51E45DE8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3F37BACB-0A83-DCD3-5116-9D3FCC5D3EDC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3</a:t>
              </a:r>
            </a:p>
          </p:txBody>
        </p:sp>
      </p:grp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4F0C1D65-E3A0-1364-EBAD-5673C10A15AF}"/>
              </a:ext>
            </a:extLst>
          </p:cNvPr>
          <p:cNvSpPr/>
          <p:nvPr/>
        </p:nvSpPr>
        <p:spPr bwMode="auto">
          <a:xfrm>
            <a:off x="4131155" y="2188139"/>
            <a:ext cx="973175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FEF1864E-1DF7-D09E-5227-5CF5BB6CB89D}"/>
              </a:ext>
            </a:extLst>
          </p:cNvPr>
          <p:cNvGrpSpPr/>
          <p:nvPr/>
        </p:nvGrpSpPr>
        <p:grpSpPr>
          <a:xfrm>
            <a:off x="4844322" y="2161864"/>
            <a:ext cx="260008" cy="261610"/>
            <a:chOff x="9608146" y="2687879"/>
            <a:chExt cx="356442" cy="382953"/>
          </a:xfrm>
        </p:grpSpPr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39013AE0-E169-6C20-37AB-5499F243D59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0C7F6B37-3793-A62E-F030-E39622725906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4</a:t>
              </a:r>
            </a:p>
          </p:txBody>
        </p:sp>
      </p:grp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DD379FB2-ECFC-CDFD-3E36-4929876BBFA3}"/>
              </a:ext>
            </a:extLst>
          </p:cNvPr>
          <p:cNvSpPr/>
          <p:nvPr/>
        </p:nvSpPr>
        <p:spPr bwMode="auto">
          <a:xfrm>
            <a:off x="898619" y="2605631"/>
            <a:ext cx="1003120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86DCE522-ACFD-A946-F368-5BC5455F7032}"/>
              </a:ext>
            </a:extLst>
          </p:cNvPr>
          <p:cNvGrpSpPr/>
          <p:nvPr/>
        </p:nvGrpSpPr>
        <p:grpSpPr>
          <a:xfrm>
            <a:off x="1641731" y="2579356"/>
            <a:ext cx="260008" cy="261610"/>
            <a:chOff x="9608147" y="2687879"/>
            <a:chExt cx="356442" cy="382953"/>
          </a:xfrm>
        </p:grpSpPr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F305D71C-C6FD-A80C-5D1A-B30B865F7364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ABC7886C-A937-0E4E-35C1-A40579EC63F1}"/>
                </a:ext>
              </a:extLst>
            </p:cNvPr>
            <p:cNvSpPr/>
            <p:nvPr/>
          </p:nvSpPr>
          <p:spPr>
            <a:xfrm>
              <a:off x="9608147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6</a:t>
              </a:r>
              <a:endParaRPr lang="en-US" altLang="zh-TW" sz="11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8A366562-02B6-C53B-2811-9C701647315C}"/>
              </a:ext>
            </a:extLst>
          </p:cNvPr>
          <p:cNvSpPr/>
          <p:nvPr/>
        </p:nvSpPr>
        <p:spPr>
          <a:xfrm>
            <a:off x="3926292" y="2619912"/>
            <a:ext cx="184731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altLang="zh-TW" sz="11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24663FE4-7865-FB6C-F917-BFB28EC8AA6B}"/>
              </a:ext>
            </a:extLst>
          </p:cNvPr>
          <p:cNvSpPr/>
          <p:nvPr/>
        </p:nvSpPr>
        <p:spPr bwMode="auto">
          <a:xfrm>
            <a:off x="1976577" y="2605631"/>
            <a:ext cx="973175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736C7B66-F930-1A2C-5D8E-7349074365A9}"/>
              </a:ext>
            </a:extLst>
          </p:cNvPr>
          <p:cNvGrpSpPr/>
          <p:nvPr/>
        </p:nvGrpSpPr>
        <p:grpSpPr>
          <a:xfrm>
            <a:off x="2689744" y="2579356"/>
            <a:ext cx="260008" cy="261610"/>
            <a:chOff x="9608146" y="2687879"/>
            <a:chExt cx="356442" cy="382953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F1617724-A6F5-95E6-347B-4506E944B518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024259F-3DB5-5BA2-2408-E18D786B53F0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7</a:t>
              </a:r>
            </a:p>
          </p:txBody>
        </p:sp>
      </p:grp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F4DB5521-A025-3095-C06F-DB9B292F7AA7}"/>
              </a:ext>
            </a:extLst>
          </p:cNvPr>
          <p:cNvSpPr/>
          <p:nvPr/>
        </p:nvSpPr>
        <p:spPr bwMode="auto">
          <a:xfrm>
            <a:off x="3044976" y="2605631"/>
            <a:ext cx="1004267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69D05A88-18D3-6BC1-2330-F455AEBA70D0}"/>
              </a:ext>
            </a:extLst>
          </p:cNvPr>
          <p:cNvGrpSpPr/>
          <p:nvPr/>
        </p:nvGrpSpPr>
        <p:grpSpPr>
          <a:xfrm>
            <a:off x="3789235" y="2579356"/>
            <a:ext cx="260008" cy="261610"/>
            <a:chOff x="9608146" y="2687879"/>
            <a:chExt cx="356442" cy="382953"/>
          </a:xfrm>
        </p:grpSpPr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D3180522-FC4C-6D17-BB47-A3BB1F49CC03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8EBE8F89-3B16-E6B2-6B1D-2EC06F6B363B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8</a:t>
              </a:r>
            </a:p>
          </p:txBody>
        </p:sp>
      </p:grp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01F0A9D0-1DDA-A25A-2AD9-E9567C0AFB92}"/>
              </a:ext>
            </a:extLst>
          </p:cNvPr>
          <p:cNvSpPr/>
          <p:nvPr/>
        </p:nvSpPr>
        <p:spPr bwMode="auto">
          <a:xfrm>
            <a:off x="4111024" y="2605631"/>
            <a:ext cx="1008700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9CC7A691-E356-6B8C-0657-312ED21F1F5D}"/>
              </a:ext>
            </a:extLst>
          </p:cNvPr>
          <p:cNvGrpSpPr/>
          <p:nvPr/>
        </p:nvGrpSpPr>
        <p:grpSpPr>
          <a:xfrm>
            <a:off x="4859715" y="2579356"/>
            <a:ext cx="260008" cy="261610"/>
            <a:chOff x="9608146" y="2687879"/>
            <a:chExt cx="356442" cy="382953"/>
          </a:xfrm>
        </p:grpSpPr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D5F59504-2DDE-FF27-73F6-FC2DCCDEBF0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9CC4DA49-20CB-7EBA-3213-32F613B71671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9</a:t>
              </a:r>
            </a:p>
          </p:txBody>
        </p:sp>
      </p:grp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5B9DCE0E-6BC8-D840-83AD-7E6925AB7A82}"/>
              </a:ext>
            </a:extLst>
          </p:cNvPr>
          <p:cNvSpPr/>
          <p:nvPr/>
        </p:nvSpPr>
        <p:spPr bwMode="auto">
          <a:xfrm>
            <a:off x="5201635" y="2185039"/>
            <a:ext cx="973175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75" name="群組 74">
            <a:extLst>
              <a:ext uri="{FF2B5EF4-FFF2-40B4-BE49-F238E27FC236}">
                <a16:creationId xmlns:a16="http://schemas.microsoft.com/office/drawing/2014/main" id="{1681BCC5-570D-F1CE-9D1F-C0A494515047}"/>
              </a:ext>
            </a:extLst>
          </p:cNvPr>
          <p:cNvGrpSpPr/>
          <p:nvPr/>
        </p:nvGrpSpPr>
        <p:grpSpPr>
          <a:xfrm>
            <a:off x="5914802" y="2158764"/>
            <a:ext cx="260008" cy="261610"/>
            <a:chOff x="9608146" y="2687879"/>
            <a:chExt cx="356442" cy="382953"/>
          </a:xfrm>
        </p:grpSpPr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CA0BDFD6-5BC6-A2BB-AB8B-B16839F90A8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50499B6-B5C4-38E9-CBAE-6D383577379A}"/>
                </a:ext>
              </a:extLst>
            </p:cNvPr>
            <p:cNvSpPr/>
            <p:nvPr/>
          </p:nvSpPr>
          <p:spPr>
            <a:xfrm>
              <a:off x="9608146" y="2687879"/>
              <a:ext cx="356442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5</a:t>
              </a:r>
            </a:p>
          </p:txBody>
        </p:sp>
      </p:grpSp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13DD8A2C-54CE-05ED-930E-2050FBDE1BC1}"/>
              </a:ext>
            </a:extLst>
          </p:cNvPr>
          <p:cNvSpPr/>
          <p:nvPr/>
        </p:nvSpPr>
        <p:spPr bwMode="auto">
          <a:xfrm>
            <a:off x="5202925" y="2605631"/>
            <a:ext cx="1008700" cy="209061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82" name="群組 81">
            <a:extLst>
              <a:ext uri="{FF2B5EF4-FFF2-40B4-BE49-F238E27FC236}">
                <a16:creationId xmlns:a16="http://schemas.microsoft.com/office/drawing/2014/main" id="{71678242-5810-9D1C-2200-08A1B31AB24B}"/>
              </a:ext>
            </a:extLst>
          </p:cNvPr>
          <p:cNvGrpSpPr/>
          <p:nvPr/>
        </p:nvGrpSpPr>
        <p:grpSpPr>
          <a:xfrm>
            <a:off x="5913948" y="2579356"/>
            <a:ext cx="335349" cy="261610"/>
            <a:chOff x="9556505" y="2687879"/>
            <a:chExt cx="459726" cy="382953"/>
          </a:xfrm>
        </p:grpSpPr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25B3861C-2ADA-78A0-B958-90FFBF33BED8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EF1D8A84-DB20-62F4-4D34-298E1E9436C3}"/>
                </a:ext>
              </a:extLst>
            </p:cNvPr>
            <p:cNvSpPr/>
            <p:nvPr/>
          </p:nvSpPr>
          <p:spPr>
            <a:xfrm>
              <a:off x="9556505" y="2687879"/>
              <a:ext cx="459726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</a:p>
          </p:txBody>
        </p:sp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79BCFAD-71AD-F81A-6DC3-E910EBAEDD36}"/>
              </a:ext>
            </a:extLst>
          </p:cNvPr>
          <p:cNvGrpSpPr/>
          <p:nvPr/>
        </p:nvGrpSpPr>
        <p:grpSpPr>
          <a:xfrm>
            <a:off x="8103398" y="5083894"/>
            <a:ext cx="431528" cy="369332"/>
            <a:chOff x="9570605" y="2687879"/>
            <a:chExt cx="431528" cy="369332"/>
          </a:xfrm>
        </p:grpSpPr>
        <p:sp>
          <p:nvSpPr>
            <p:cNvPr id="86" name="橢圓 85">
              <a:extLst>
                <a:ext uri="{FF2B5EF4-FFF2-40B4-BE49-F238E27FC236}">
                  <a16:creationId xmlns:a16="http://schemas.microsoft.com/office/drawing/2014/main" id="{0630BBA3-D53D-C3DE-B42E-3CC2A988D87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EC32E1BE-6094-AA19-4147-AF0B390CB427}"/>
                </a:ext>
              </a:extLst>
            </p:cNvPr>
            <p:cNvSpPr/>
            <p:nvPr/>
          </p:nvSpPr>
          <p:spPr>
            <a:xfrm>
              <a:off x="9570605" y="2687879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10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88" name="矩形 87">
            <a:extLst>
              <a:ext uri="{FF2B5EF4-FFF2-40B4-BE49-F238E27FC236}">
                <a16:creationId xmlns:a16="http://schemas.microsoft.com/office/drawing/2014/main" id="{8209E416-D0BC-ECFA-FA71-841A0B84E1FE}"/>
              </a:ext>
            </a:extLst>
          </p:cNvPr>
          <p:cNvSpPr/>
          <p:nvPr/>
        </p:nvSpPr>
        <p:spPr>
          <a:xfrm>
            <a:off x="8432884" y="5068777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料號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E6FBEDD9-CFC2-8E67-2744-FFF0ABE33BBB}"/>
              </a:ext>
            </a:extLst>
          </p:cNvPr>
          <p:cNvSpPr/>
          <p:nvPr/>
        </p:nvSpPr>
        <p:spPr bwMode="auto">
          <a:xfrm>
            <a:off x="819134" y="5401674"/>
            <a:ext cx="6542850" cy="488507"/>
          </a:xfrm>
          <a:prstGeom prst="roundRect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90" name="群組 89">
            <a:extLst>
              <a:ext uri="{FF2B5EF4-FFF2-40B4-BE49-F238E27FC236}">
                <a16:creationId xmlns:a16="http://schemas.microsoft.com/office/drawing/2014/main" id="{3E961E87-DEA5-CF4B-E1A0-1B0362AD7FE2}"/>
              </a:ext>
            </a:extLst>
          </p:cNvPr>
          <p:cNvGrpSpPr/>
          <p:nvPr/>
        </p:nvGrpSpPr>
        <p:grpSpPr>
          <a:xfrm>
            <a:off x="7026635" y="5619987"/>
            <a:ext cx="335349" cy="261610"/>
            <a:chOff x="9556505" y="2687879"/>
            <a:chExt cx="459726" cy="382953"/>
          </a:xfrm>
        </p:grpSpPr>
        <p:sp>
          <p:nvSpPr>
            <p:cNvPr id="91" name="橢圓 90">
              <a:extLst>
                <a:ext uri="{FF2B5EF4-FFF2-40B4-BE49-F238E27FC236}">
                  <a16:creationId xmlns:a16="http://schemas.microsoft.com/office/drawing/2014/main" id="{23BE5659-B215-0A6A-B000-41AE607F31CB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 sz="1800" dirty="0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ABECBB61-2B2E-FE20-12F7-7AC72C85C865}"/>
                </a:ext>
              </a:extLst>
            </p:cNvPr>
            <p:cNvSpPr/>
            <p:nvPr/>
          </p:nvSpPr>
          <p:spPr>
            <a:xfrm>
              <a:off x="9556505" y="2687879"/>
              <a:ext cx="459726" cy="382953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1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</a:p>
          </p:txBody>
        </p:sp>
      </p:grp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25EF3A0A-85C6-4043-0FA4-A847753AF1DA}"/>
              </a:ext>
            </a:extLst>
          </p:cNvPr>
          <p:cNvGrpSpPr/>
          <p:nvPr/>
        </p:nvGrpSpPr>
        <p:grpSpPr>
          <a:xfrm>
            <a:off x="8110929" y="5473116"/>
            <a:ext cx="431528" cy="369332"/>
            <a:chOff x="9570605" y="2687879"/>
            <a:chExt cx="431528" cy="369332"/>
          </a:xfrm>
        </p:grpSpPr>
        <p:sp>
          <p:nvSpPr>
            <p:cNvPr id="94" name="橢圓 93">
              <a:extLst>
                <a:ext uri="{FF2B5EF4-FFF2-40B4-BE49-F238E27FC236}">
                  <a16:creationId xmlns:a16="http://schemas.microsoft.com/office/drawing/2014/main" id="{508EF4A5-2612-1246-D95A-75EAA48CE610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7ACE5D08-4802-AF2B-38D9-5F3A4BCF07CD}"/>
                </a:ext>
              </a:extLst>
            </p:cNvPr>
            <p:cNvSpPr/>
            <p:nvPr/>
          </p:nvSpPr>
          <p:spPr>
            <a:xfrm>
              <a:off x="9570605" y="2687879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11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22" name="矩形 121">
            <a:extLst>
              <a:ext uri="{FF2B5EF4-FFF2-40B4-BE49-F238E27FC236}">
                <a16:creationId xmlns:a16="http://schemas.microsoft.com/office/drawing/2014/main" id="{D6128B73-E05D-3329-56DF-935B3BA63F0B}"/>
              </a:ext>
            </a:extLst>
          </p:cNvPr>
          <p:cNvSpPr/>
          <p:nvPr/>
        </p:nvSpPr>
        <p:spPr>
          <a:xfrm>
            <a:off x="8440415" y="5457999"/>
            <a:ext cx="240046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傳單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QR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CODE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掃描區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05572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D860-BA91-12D2-8C49-045B6B0A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DF3DD-4655-6552-BA94-7CCB138F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如何接收現場設備數據</a:t>
            </a:r>
            <a:r>
              <a:rPr lang="en-US" altLang="zh-TW" sz="4000" b="1" dirty="0"/>
              <a:t>?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CFEC93-E1CC-F8EB-A6A4-7A403825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1F956A0-411F-3E9D-7C14-EC53368C6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340768"/>
            <a:ext cx="6507277" cy="4627101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81611E1B-CCB5-4870-7F07-67A540D96C62}"/>
              </a:ext>
            </a:extLst>
          </p:cNvPr>
          <p:cNvSpPr/>
          <p:nvPr/>
        </p:nvSpPr>
        <p:spPr>
          <a:xfrm>
            <a:off x="736273" y="6182491"/>
            <a:ext cx="812831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當篩選完規格後按下 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Start Listening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按鈕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,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將看到此畫面       ，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右上角會提是目前的狀態，</a:t>
            </a:r>
            <a:r>
              <a:rPr lang="en-US" altLang="zh-TW" sz="1800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Lestening</a:t>
            </a:r>
            <a:r>
              <a:rPr lang="en-US" altLang="zh-TW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for values…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代表</a:t>
            </a:r>
            <a:r>
              <a: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系統正在接收數據中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484D19DD-DF80-0CF8-5E48-6AC556FD8484}"/>
              </a:ext>
            </a:extLst>
          </p:cNvPr>
          <p:cNvGrpSpPr/>
          <p:nvPr/>
        </p:nvGrpSpPr>
        <p:grpSpPr>
          <a:xfrm>
            <a:off x="7097325" y="5733256"/>
            <a:ext cx="431528" cy="369332"/>
            <a:chOff x="9576614" y="2689238"/>
            <a:chExt cx="431528" cy="369332"/>
          </a:xfrm>
        </p:grpSpPr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D6456584-AC6D-C385-9DC7-8EE045A3F35E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868C72A-C402-BFDC-D025-C6531776718A}"/>
                </a:ext>
              </a:extLst>
            </p:cNvPr>
            <p:cNvSpPr/>
            <p:nvPr/>
          </p:nvSpPr>
          <p:spPr>
            <a:xfrm>
              <a:off x="9576614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12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0033F14-D5AA-E2B4-3081-13947CAE12EC}"/>
              </a:ext>
            </a:extLst>
          </p:cNvPr>
          <p:cNvGrpSpPr/>
          <p:nvPr/>
        </p:nvGrpSpPr>
        <p:grpSpPr>
          <a:xfrm>
            <a:off x="6267702" y="6182491"/>
            <a:ext cx="431528" cy="369332"/>
            <a:chOff x="9576614" y="2689238"/>
            <a:chExt cx="431528" cy="369332"/>
          </a:xfrm>
        </p:grpSpPr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04752A18-1026-A66F-8BCF-3CE3B1E7F293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E078110-9AC1-B7BB-FA7E-3100671CA129}"/>
                </a:ext>
              </a:extLst>
            </p:cNvPr>
            <p:cNvSpPr/>
            <p:nvPr/>
          </p:nvSpPr>
          <p:spPr>
            <a:xfrm>
              <a:off x="9576614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12</a:t>
              </a:r>
              <a:endParaRPr lang="en-US" altLang="zh-TW" sz="1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0F9AC6E9-D387-DBED-D142-19F7AE399587}"/>
              </a:ext>
            </a:extLst>
          </p:cNvPr>
          <p:cNvSpPr/>
          <p:nvPr/>
        </p:nvSpPr>
        <p:spPr>
          <a:xfrm>
            <a:off x="7478054" y="5428849"/>
            <a:ext cx="337945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系統會採用陰影告知操作人員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目前所要量測的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H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、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h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、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W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位置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258001-2D59-83BD-5B1A-5197DA0AC701}"/>
              </a:ext>
            </a:extLst>
          </p:cNvPr>
          <p:cNvSpPr/>
          <p:nvPr/>
        </p:nvSpPr>
        <p:spPr>
          <a:xfrm>
            <a:off x="7447158" y="1235557"/>
            <a:ext cx="4618687" cy="261610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狀況排除</a:t>
            </a:r>
            <a:r>
              <a:rPr lang="en-US" altLang="zh-TW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</a:t>
            </a:r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量測時系統無法接收數據</a:t>
            </a:r>
            <a:endParaRPr lang="en-US" altLang="zh-TW" b="1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設備狀況</a:t>
            </a:r>
            <a:endParaRPr lang="en-US" altLang="zh-TW" sz="18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A: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請確認游標卡尺上的接頭是否有鬆脫</a:t>
            </a:r>
            <a:b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</a:b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請重新插拔白色插頭並等待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約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3Min,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重新開啟頁面，</a:t>
            </a:r>
            <a:r>
              <a:rPr lang="zh-TW" altLang="en-US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確認是否能夠接收到數據。</a:t>
            </a:r>
            <a:endParaRPr lang="en-US" altLang="zh-TW" sz="1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---------------------------------------------------------</a:t>
            </a: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71680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080C-9FEB-DE0B-3B96-0A37837C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4F543-8F6F-215D-F3EF-D27A062B7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常見問題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30A98E-1B37-4C80-7382-9FD3D6AB4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434ADD-C48E-E962-9109-FB9B13B4CE3F}"/>
              </a:ext>
            </a:extLst>
          </p:cNvPr>
          <p:cNvSpPr/>
          <p:nvPr/>
        </p:nvSpPr>
        <p:spPr>
          <a:xfrm>
            <a:off x="808378" y="5044521"/>
            <a:ext cx="10625855" cy="178510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狀況排除</a:t>
            </a:r>
            <a:r>
              <a:rPr lang="en-US" altLang="zh-TW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:</a:t>
            </a:r>
            <a:r>
              <a:rPr lang="zh-TW" altLang="en-US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量測時系統無法接收數據</a:t>
            </a:r>
            <a:r>
              <a:rPr lang="en-US" altLang="zh-TW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</a:t>
            </a:r>
            <a:r>
              <a:rPr lang="zh-TW" altLang="en-US" sz="20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該規格沒有標準</a:t>
            </a:r>
            <a:r>
              <a:rPr lang="en-US" altLang="zh-TW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)</a:t>
            </a:r>
            <a:endParaRPr lang="en-US" altLang="zh-TW" b="1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 沒有顯示 標準值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A: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請確認該規格在</a:t>
            </a:r>
            <a:r>
              <a:rPr lang="en-US" altLang="zh-TW" sz="1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WebISO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是否有標準，如有新的規格或是標準修訂，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請告知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人員，並提出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程式客製需求單。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99A6CF4-0DD3-6CDA-1118-FD1641A14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78" y="1205853"/>
            <a:ext cx="10668000" cy="376260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4D2A43F-7FCE-1F9E-7003-962CB815950D}"/>
              </a:ext>
            </a:extLst>
          </p:cNvPr>
          <p:cNvSpPr/>
          <p:nvPr/>
        </p:nvSpPr>
        <p:spPr bwMode="auto">
          <a:xfrm>
            <a:off x="901611" y="2944460"/>
            <a:ext cx="874881" cy="263735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3CBC71-C2D4-6431-A71E-A98B57CE7878}"/>
              </a:ext>
            </a:extLst>
          </p:cNvPr>
          <p:cNvSpPr/>
          <p:nvPr/>
        </p:nvSpPr>
        <p:spPr bwMode="auto">
          <a:xfrm>
            <a:off x="8040216" y="2968757"/>
            <a:ext cx="874881" cy="263735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8D5DAE-4B5E-D601-F2AF-BFCAA9C54530}"/>
              </a:ext>
            </a:extLst>
          </p:cNvPr>
          <p:cNvSpPr/>
          <p:nvPr/>
        </p:nvSpPr>
        <p:spPr bwMode="auto">
          <a:xfrm>
            <a:off x="4470913" y="2968757"/>
            <a:ext cx="874881" cy="263735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271682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C034-B5D6-3354-0DC8-D7F03E62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66A47-0AE6-EB36-D50E-BBB54D7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常見問題 </a:t>
            </a:r>
            <a:r>
              <a:rPr lang="en-US" altLang="zh-TW" sz="4000" b="1" dirty="0"/>
              <a:t>(CPK:NULL)</a:t>
            </a:r>
            <a:endParaRPr lang="zh-TW" altLang="en-US" sz="4000" b="1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BE8E6A-0039-8002-C99F-2FB49162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11DDB1-0462-B717-57BB-F7324BA4BCCA}"/>
              </a:ext>
            </a:extLst>
          </p:cNvPr>
          <p:cNvSpPr/>
          <p:nvPr/>
        </p:nvSpPr>
        <p:spPr>
          <a:xfrm>
            <a:off x="756520" y="6352572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CPK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值若少於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5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筆數據，將不列入計算</a:t>
            </a:r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BC1029B-ED5E-593D-3BA8-C32F5AE62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20" y="1268760"/>
            <a:ext cx="10677713" cy="48207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B416158-607C-BD2C-6635-2FB48EC3B39B}"/>
              </a:ext>
            </a:extLst>
          </p:cNvPr>
          <p:cNvSpPr/>
          <p:nvPr/>
        </p:nvSpPr>
        <p:spPr bwMode="auto">
          <a:xfrm>
            <a:off x="900639" y="4365104"/>
            <a:ext cx="874881" cy="276742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F55C07-C557-CF59-180D-DB6C15E40B10}"/>
              </a:ext>
            </a:extLst>
          </p:cNvPr>
          <p:cNvSpPr/>
          <p:nvPr/>
        </p:nvSpPr>
        <p:spPr bwMode="auto">
          <a:xfrm>
            <a:off x="8039244" y="4389401"/>
            <a:ext cx="874881" cy="276742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6356A8-5605-33FF-1A79-B16EBA57989B}"/>
              </a:ext>
            </a:extLst>
          </p:cNvPr>
          <p:cNvSpPr/>
          <p:nvPr/>
        </p:nvSpPr>
        <p:spPr bwMode="auto">
          <a:xfrm>
            <a:off x="4469941" y="4389401"/>
            <a:ext cx="874881" cy="276742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084487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3E99-5E1C-3C27-FE10-8549F752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8DD0F5-342B-1A96-3974-AFDF7F8C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dirty="0"/>
              <a:t>常見問題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C96863-83F9-2436-2781-5561718C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257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3A8AAE-0B6A-C3DD-6BD3-C6BD8300DC5C}"/>
              </a:ext>
            </a:extLst>
          </p:cNvPr>
          <p:cNvSpPr/>
          <p:nvPr/>
        </p:nvSpPr>
        <p:spPr>
          <a:xfrm>
            <a:off x="756520" y="6352572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若確認選項皆為一致仍無法帶出選項，請通知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人員進行處理。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8DEA97F-1F4F-519D-6A89-FDDAEE263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48" b="3434"/>
          <a:stretch/>
        </p:blipFill>
        <p:spPr>
          <a:xfrm>
            <a:off x="766233" y="4185385"/>
            <a:ext cx="10668001" cy="1490375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06CBD2B8-1267-709F-F707-EDF5078F2F7D}"/>
              </a:ext>
            </a:extLst>
          </p:cNvPr>
          <p:cNvSpPr/>
          <p:nvPr/>
        </p:nvSpPr>
        <p:spPr bwMode="auto">
          <a:xfrm>
            <a:off x="2639616" y="5197472"/>
            <a:ext cx="1656184" cy="374317"/>
          </a:xfrm>
          <a:prstGeom prst="round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48B99D-4DDC-5DC0-98F2-93CE529716BB}"/>
              </a:ext>
            </a:extLst>
          </p:cNvPr>
          <p:cNvSpPr/>
          <p:nvPr/>
        </p:nvSpPr>
        <p:spPr>
          <a:xfrm>
            <a:off x="719219" y="3686335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狀況情形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1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：未化板批號沒有選項。</a:t>
            </a:r>
            <a:endParaRPr lang="en-US" altLang="zh-TW" sz="1800" dirty="0">
              <a:ln w="0"/>
              <a:solidFill>
                <a:srgbClr val="FFC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02FE19-7D6A-DB6D-08F6-5EEDEBE07E6B}"/>
              </a:ext>
            </a:extLst>
          </p:cNvPr>
          <p:cNvSpPr/>
          <p:nvPr/>
        </p:nvSpPr>
        <p:spPr>
          <a:xfrm>
            <a:off x="766233" y="5727558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請確認傳票上的資訊與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系統上所選的數據一致，若日期有所差異則無法帶出該選項。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157A20DD-2E89-79DE-1BE4-2C8D64A1A9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552" b="30055"/>
          <a:stretch/>
        </p:blipFill>
        <p:spPr>
          <a:xfrm>
            <a:off x="756521" y="1280740"/>
            <a:ext cx="10622680" cy="217997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0D545F6E-F7EF-5C1A-C43C-49DD492A8F64}"/>
              </a:ext>
            </a:extLst>
          </p:cNvPr>
          <p:cNvSpPr/>
          <p:nvPr/>
        </p:nvSpPr>
        <p:spPr>
          <a:xfrm>
            <a:off x="727991" y="1094669"/>
            <a:ext cx="8583679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 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頁面出現 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Failed to load grid types,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請立即告知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MES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人員確認是否為網路問題。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66201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2316-9AD8-5381-3B59-44640E025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50D12D7E-1AF1-0912-BFC2-A7C54F27D119}"/>
              </a:ext>
            </a:extLst>
          </p:cNvPr>
          <p:cNvSpPr/>
          <p:nvPr/>
        </p:nvSpPr>
        <p:spPr>
          <a:xfrm>
            <a:off x="751462" y="6352572"/>
            <a:ext cx="739580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  使用條碼槍掃描此區塊的       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QRCODE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系統將自動帶出後續選項。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68CF771-FA95-B34C-6F8B-CBF79D4D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QR CODE </a:t>
            </a:r>
            <a:r>
              <a:rPr lang="zh-TW" altLang="en-US" sz="4000" b="1" dirty="0"/>
              <a:t>掃描傳單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066D69-BADC-341D-1F63-5E1ACF021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2171" y="639580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64C117F6-E8EF-5B23-C27F-09437724A285}"/>
              </a:ext>
            </a:extLst>
          </p:cNvPr>
          <p:cNvGrpSpPr/>
          <p:nvPr/>
        </p:nvGrpSpPr>
        <p:grpSpPr>
          <a:xfrm>
            <a:off x="3647728" y="6352572"/>
            <a:ext cx="431528" cy="369332"/>
            <a:chOff x="9576615" y="2689238"/>
            <a:chExt cx="431528" cy="369332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9C0321D8-A9E1-E38E-DF20-08F3B2BBA502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BA5A3208-82BF-A280-E79F-F2A13B64D792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13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DA602D-F09A-4168-EFCF-AE3ECD5F0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71" y="1849630"/>
            <a:ext cx="5167713" cy="355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F637FFE-FD2C-D040-0E70-B0C5707913C4}"/>
              </a:ext>
            </a:extLst>
          </p:cNvPr>
          <p:cNvSpPr/>
          <p:nvPr/>
        </p:nvSpPr>
        <p:spPr bwMode="auto">
          <a:xfrm>
            <a:off x="4288981" y="2614015"/>
            <a:ext cx="1590995" cy="127370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28AEBCD7-2189-DCF2-E806-8D2CBE69D569}"/>
              </a:ext>
            </a:extLst>
          </p:cNvPr>
          <p:cNvGrpSpPr/>
          <p:nvPr/>
        </p:nvGrpSpPr>
        <p:grpSpPr>
          <a:xfrm>
            <a:off x="5319474" y="3469504"/>
            <a:ext cx="573224" cy="400111"/>
            <a:chOff x="9570605" y="2721942"/>
            <a:chExt cx="431528" cy="301207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15A7BA13-95A1-CD4F-CA92-2D3E2FE8AF0F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D51ED7E-F824-E864-C66E-B7A0275AAAE2}"/>
                </a:ext>
              </a:extLst>
            </p:cNvPr>
            <p:cNvSpPr/>
            <p:nvPr/>
          </p:nvSpPr>
          <p:spPr>
            <a:xfrm>
              <a:off x="9570605" y="2721942"/>
              <a:ext cx="431528" cy="30120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13</a:t>
              </a:r>
              <a:endParaRPr lang="en-US" altLang="zh-TW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4915188C-4968-6911-AA4E-AA333E9A4AD1}"/>
              </a:ext>
            </a:extLst>
          </p:cNvPr>
          <p:cNvGrpSpPr/>
          <p:nvPr/>
        </p:nvGrpSpPr>
        <p:grpSpPr>
          <a:xfrm>
            <a:off x="6084870" y="1849597"/>
            <a:ext cx="5212507" cy="3553502"/>
            <a:chOff x="6084870" y="1849597"/>
            <a:chExt cx="5212507" cy="3553502"/>
          </a:xfrm>
        </p:grpSpPr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71E46967-92B2-8278-5333-D337D7F35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1135" y="2250827"/>
              <a:ext cx="5206242" cy="3152272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71D7B27C-BCBA-5FB4-02DF-2BD33FB3E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4870" y="1849597"/>
              <a:ext cx="5212506" cy="1379500"/>
            </a:xfrm>
            <a:prstGeom prst="rect">
              <a:avLst/>
            </a:prstGeom>
          </p:spPr>
        </p:pic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74A0650D-7C29-26C1-A68D-1D46AAB976FD}"/>
              </a:ext>
            </a:extLst>
          </p:cNvPr>
          <p:cNvGrpSpPr/>
          <p:nvPr/>
        </p:nvGrpSpPr>
        <p:grpSpPr>
          <a:xfrm>
            <a:off x="10703832" y="4966647"/>
            <a:ext cx="573224" cy="400111"/>
            <a:chOff x="9570605" y="2721942"/>
            <a:chExt cx="431528" cy="301207"/>
          </a:xfrm>
        </p:grpSpPr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C535F7EB-764B-4393-B834-675FBAD8454C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DDED432-1217-A7CB-802F-BC307EB9AF19}"/>
                </a:ext>
              </a:extLst>
            </p:cNvPr>
            <p:cNvSpPr/>
            <p:nvPr/>
          </p:nvSpPr>
          <p:spPr>
            <a:xfrm>
              <a:off x="9570605" y="2721942"/>
              <a:ext cx="431528" cy="30120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14</a:t>
              </a:r>
              <a:endParaRPr lang="en-US" altLang="zh-TW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cxnSp>
        <p:nvCxnSpPr>
          <p:cNvPr id="32" name="直線單箭頭接點 40">
            <a:extLst>
              <a:ext uri="{FF2B5EF4-FFF2-40B4-BE49-F238E27FC236}">
                <a16:creationId xmlns:a16="http://schemas.microsoft.com/office/drawing/2014/main" id="{E20717F0-12B8-319E-0711-8A5D4D43D935}"/>
              </a:ext>
            </a:extLst>
          </p:cNvPr>
          <p:cNvCxnSpPr>
            <a:cxnSpLocks/>
            <a:stCxn id="8" idx="4"/>
            <a:endCxn id="30" idx="4"/>
          </p:cNvCxnSpPr>
          <p:nvPr/>
        </p:nvCxnSpPr>
        <p:spPr>
          <a:xfrm rot="16200000" flipH="1">
            <a:off x="7549694" y="1912024"/>
            <a:ext cx="1497143" cy="5384358"/>
          </a:xfrm>
          <a:prstGeom prst="bentConnector3">
            <a:avLst>
              <a:gd name="adj1" fmla="val 115269"/>
            </a:avLst>
          </a:prstGeom>
          <a:ln w="381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40">
            <a:extLst>
              <a:ext uri="{FF2B5EF4-FFF2-40B4-BE49-F238E27FC236}">
                <a16:creationId xmlns:a16="http://schemas.microsoft.com/office/drawing/2014/main" id="{F6179856-5EC9-D1B2-C270-2DB79F11AD70}"/>
              </a:ext>
            </a:extLst>
          </p:cNvPr>
          <p:cNvCxnSpPr>
            <a:cxnSpLocks/>
            <a:stCxn id="30" idx="6"/>
            <a:endCxn id="23" idx="3"/>
          </p:cNvCxnSpPr>
          <p:nvPr/>
        </p:nvCxnSpPr>
        <p:spPr>
          <a:xfrm flipV="1">
            <a:off x="11176517" y="2539347"/>
            <a:ext cx="120859" cy="2627355"/>
          </a:xfrm>
          <a:prstGeom prst="bentConnector3">
            <a:avLst>
              <a:gd name="adj1" fmla="val 453947"/>
            </a:avLst>
          </a:prstGeom>
          <a:ln w="38100">
            <a:solidFill>
              <a:srgbClr val="0000FF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0064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A5173-C82D-55B5-F2B2-FFAA8F23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A94958-CEF9-ED23-15D8-1AFC7B01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b="1" dirty="0"/>
              <a:t>SPC</a:t>
            </a:r>
            <a:r>
              <a:rPr lang="zh-TW" altLang="en-US" sz="4000" b="1" dirty="0"/>
              <a:t> 系統控卡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320DE1-0058-42FF-750E-C5FE9796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92171" y="6395802"/>
            <a:ext cx="2641600" cy="476250"/>
          </a:xfrm>
        </p:spPr>
        <p:txBody>
          <a:bodyPr/>
          <a:lstStyle/>
          <a:p>
            <a:pPr>
              <a:defRPr/>
            </a:pPr>
            <a:fld id="{852CDCC6-45B8-42E7-8F1E-49E4E4D3993A}" type="slidenum">
              <a:rPr lang="en-US" altLang="zh-TW" smtClean="0"/>
              <a:pPr>
                <a:defRPr/>
              </a:pPr>
              <a:t>8</a:t>
            </a:fld>
            <a:endParaRPr lang="en-US" altLang="zh-TW" dirty="0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AF43684D-8CBC-67DE-CBB4-20EC1E8F957A}"/>
              </a:ext>
            </a:extLst>
          </p:cNvPr>
          <p:cNvGrpSpPr/>
          <p:nvPr/>
        </p:nvGrpSpPr>
        <p:grpSpPr>
          <a:xfrm>
            <a:off x="1055440" y="6352572"/>
            <a:ext cx="431528" cy="369332"/>
            <a:chOff x="9576615" y="2689238"/>
            <a:chExt cx="431528" cy="369332"/>
          </a:xfrm>
        </p:grpSpPr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8C210679-DB74-0891-C09F-B18D9D47F2E6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60048FB-5A45-340D-0C89-ABDBCD1FF560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14</a:t>
              </a: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6F1CC100-6F5F-00CC-92A0-F30357208D68}"/>
              </a:ext>
            </a:extLst>
          </p:cNvPr>
          <p:cNvSpPr/>
          <p:nvPr/>
        </p:nvSpPr>
        <p:spPr>
          <a:xfrm>
            <a:off x="751462" y="6352572"/>
            <a:ext cx="42511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</a:t>
            </a:r>
            <a:endParaRPr lang="en-US" altLang="zh-TW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pic>
        <p:nvPicPr>
          <p:cNvPr id="7" name="圖片 6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8686F452-079D-C8BE-9DAA-EC0B10786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3" y="1317926"/>
            <a:ext cx="5896852" cy="4487338"/>
          </a:xfrm>
          <a:prstGeom prst="rect">
            <a:avLst/>
          </a:prstGeom>
          <a:ln w="38100">
            <a:solidFill>
              <a:srgbClr val="0000FF"/>
            </a:solidFill>
          </a:ln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9A1FBC9E-1968-8398-9C57-234544FBFCA0}"/>
              </a:ext>
            </a:extLst>
          </p:cNvPr>
          <p:cNvGrpSpPr/>
          <p:nvPr/>
        </p:nvGrpSpPr>
        <p:grpSpPr>
          <a:xfrm>
            <a:off x="6384032" y="5589240"/>
            <a:ext cx="431528" cy="369332"/>
            <a:chOff x="9576615" y="2689238"/>
            <a:chExt cx="431528" cy="369332"/>
          </a:xfrm>
        </p:grpSpPr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104FEB0-1CE7-D092-C11A-8697BBFB1D84}"/>
                </a:ext>
              </a:extLst>
            </p:cNvPr>
            <p:cNvSpPr/>
            <p:nvPr/>
          </p:nvSpPr>
          <p:spPr bwMode="auto">
            <a:xfrm>
              <a:off x="9646292" y="2732468"/>
              <a:ext cx="280155" cy="280155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C6D325-C8B7-09B5-9596-A332ED064D2A}"/>
                </a:ext>
              </a:extLst>
            </p:cNvPr>
            <p:cNvSpPr/>
            <p:nvPr/>
          </p:nvSpPr>
          <p:spPr>
            <a:xfrm>
              <a:off x="9576615" y="2689238"/>
              <a:ext cx="431528" cy="369332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ptos" panose="020B0004020202020204" pitchFamily="34" charset="0"/>
                </a:rPr>
                <a:t>14</a:t>
              </a: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3D002B0D-2050-DBBD-2983-1BF49E66604C}"/>
              </a:ext>
            </a:extLst>
          </p:cNvPr>
          <p:cNvSpPr/>
          <p:nvPr/>
        </p:nvSpPr>
        <p:spPr>
          <a:xfrm>
            <a:off x="1405272" y="6348757"/>
            <a:ext cx="10753561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低於該範圍或是高於該範圍，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系統會自動彈出視窗告知操作人員並且此次量測值不予採納。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340806-1B5A-B3CC-5F67-4E465727CB4F}"/>
              </a:ext>
            </a:extLst>
          </p:cNvPr>
          <p:cNvSpPr/>
          <p:nvPr/>
        </p:nvSpPr>
        <p:spPr>
          <a:xfrm>
            <a:off x="6815560" y="1582655"/>
            <a:ext cx="4968552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控卡邏輯：</a:t>
            </a:r>
            <a:endParaRPr lang="en-US" altLang="zh-TW" sz="18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根據各規格的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H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、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h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、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W 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標準的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±5%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來做控卡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避免操作人員選錯規格或量測時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H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抓到兩筆的現象。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例如：如圖規格為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PML-D17-16PG-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高溫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,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該規格 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h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標準為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214.7~215.7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，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因此控卡標準為</a:t>
            </a:r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Min:214.7-5%, Max:215.7+5%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。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-------------------------------------------------------------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2DEB40-5421-4092-8295-0839CF1B40BD}"/>
              </a:ext>
            </a:extLst>
          </p:cNvPr>
          <p:cNvSpPr/>
          <p:nvPr/>
        </p:nvSpPr>
        <p:spPr>
          <a:xfrm>
            <a:off x="6815560" y="4575485"/>
            <a:ext cx="463170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※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必須完整輸入完三筆數據後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(H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、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h</a:t>
            </a:r>
            <a:r>
              <a:rPr lang="zh-TW" altLang="en-US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 、</a:t>
            </a:r>
            <a:r>
              <a:rPr lang="en-US" altLang="zh-TW" sz="18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W )</a:t>
            </a:r>
          </a:p>
          <a:p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才算一組，若未滿三筆數據的情況下，</a:t>
            </a:r>
            <a:endParaRPr lang="en-US" altLang="zh-TW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  <a:p>
            <a:r>
              <a:rPr lang="en-US" altLang="zh-TW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SPC</a:t>
            </a:r>
            <a:r>
              <a:rPr lang="zh-TW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系統將不會存入資料庫</a:t>
            </a:r>
            <a:endParaRPr lang="zh-TW" altLang="en-US" sz="18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2756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22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557213" indent="-214313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95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8572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kumimoji="1" sz="1725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200150" indent="-1714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1543050" indent="-17145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1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73AF34-EC42-4013-981E-DB7623898E0C}" type="slidenum">
              <a:rPr kumimoji="0" lang="en-US" altLang="zh-TW" sz="90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zh-TW" sz="900"/>
          </a:p>
        </p:txBody>
      </p:sp>
      <p:sp>
        <p:nvSpPr>
          <p:cNvPr id="9" name="文字方塊 8"/>
          <p:cNvSpPr txBox="1"/>
          <p:nvPr/>
        </p:nvSpPr>
        <p:spPr>
          <a:xfrm>
            <a:off x="3827749" y="3104964"/>
            <a:ext cx="468269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TW" sz="6600" b="1" dirty="0">
                <a:solidFill>
                  <a:schemeClr val="accent6"/>
                </a:solidFill>
              </a:rPr>
              <a:t>Thank You</a:t>
            </a:r>
            <a:endParaRPr lang="zh-TW" altLang="en-US" sz="6600" b="1" dirty="0">
              <a:solidFill>
                <a:schemeClr val="accent6"/>
              </a:solidFill>
            </a:endParaRPr>
          </a:p>
        </p:txBody>
      </p:sp>
      <p:pic>
        <p:nvPicPr>
          <p:cNvPr id="3" name="圖片 4">
            <a:extLst>
              <a:ext uri="{FF2B5EF4-FFF2-40B4-BE49-F238E27FC236}">
                <a16:creationId xmlns:a16="http://schemas.microsoft.com/office/drawing/2014/main" id="{B61F5CCA-8304-275B-7836-A71722FDAF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058" y="5806804"/>
            <a:ext cx="3240360" cy="28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>
          <a:solidFill>
            <a:schemeClr val="accent2"/>
          </a:solidFill>
          <a:round/>
          <a:headEnd/>
          <a:tailEnd/>
        </a:ln>
      </a:spPr>
      <a:bodyPr/>
      <a:lstStyle>
        <a:defPPr>
          <a:defRPr/>
        </a:defPPr>
      </a:lstStyle>
    </a:sp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8150</TotalTime>
  <Words>533</Words>
  <Application>Microsoft Office PowerPoint</Application>
  <PresentationFormat>寬螢幕</PresentationFormat>
  <Paragraphs>102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Aptos</vt:lpstr>
      <vt:lpstr>Arial</vt:lpstr>
      <vt:lpstr>Tahoma</vt:lpstr>
      <vt:lpstr>Verdana</vt:lpstr>
      <vt:lpstr>Wingdings</vt:lpstr>
      <vt:lpstr>Profile</vt:lpstr>
      <vt:lpstr>PowerPoint 簡報</vt:lpstr>
      <vt:lpstr>頁面功能介紹</vt:lpstr>
      <vt:lpstr>如何接收現場設備數據?</vt:lpstr>
      <vt:lpstr>常見問題</vt:lpstr>
      <vt:lpstr>常見問題 (CPK:NULL)</vt:lpstr>
      <vt:lpstr>常見問題</vt:lpstr>
      <vt:lpstr>QR CODE 掃描傳單</vt:lpstr>
      <vt:lpstr>SPC 系統控卡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MichaelLee</dc:creator>
  <cp:lastModifiedBy>蔡德龍 / TSAI，TE-LUNG</cp:lastModifiedBy>
  <cp:revision>946</cp:revision>
  <cp:lastPrinted>2022-08-12T03:29:57Z</cp:lastPrinted>
  <dcterms:created xsi:type="dcterms:W3CDTF">2004-02-23T01:50:34Z</dcterms:created>
  <dcterms:modified xsi:type="dcterms:W3CDTF">2025-05-09T08:00:30Z</dcterms:modified>
</cp:coreProperties>
</file>