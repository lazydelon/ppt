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10"/>
  </p:notesMasterIdLst>
  <p:handoutMasterIdLst>
    <p:handoutMasterId r:id="rId11"/>
  </p:handoutMasterIdLst>
  <p:sldIdLst>
    <p:sldId id="627" r:id="rId2"/>
    <p:sldId id="726" r:id="rId3"/>
    <p:sldId id="734" r:id="rId4"/>
    <p:sldId id="728" r:id="rId5"/>
    <p:sldId id="735" r:id="rId6"/>
    <p:sldId id="736" r:id="rId7"/>
    <p:sldId id="737" r:id="rId8"/>
    <p:sldId id="715" r:id="rId9"/>
  </p:sldIdLst>
  <p:sldSz cx="12192000" cy="6858000"/>
  <p:notesSz cx="7104063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CC"/>
    <a:srgbClr val="C8C8C8"/>
    <a:srgbClr val="3333FF"/>
    <a:srgbClr val="CC0000"/>
    <a:srgbClr val="33CC33"/>
    <a:srgbClr val="FFFF66"/>
    <a:srgbClr val="6AECFA"/>
    <a:srgbClr val="CC33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0" autoAdjust="0"/>
    <p:restoredTop sz="94854" autoAdjust="0"/>
  </p:normalViewPr>
  <p:slideViewPr>
    <p:cSldViewPr>
      <p:cViewPr varScale="1">
        <p:scale>
          <a:sx n="62" d="100"/>
          <a:sy n="62" d="100"/>
        </p:scale>
        <p:origin x="50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6"/>
    </p:cViewPr>
  </p:sorterViewPr>
  <p:notesViewPr>
    <p:cSldViewPr>
      <p:cViewPr varScale="1">
        <p:scale>
          <a:sx n="60" d="100"/>
          <a:sy n="60" d="100"/>
        </p:scale>
        <p:origin x="-1098" y="-78"/>
      </p:cViewPr>
      <p:guideLst>
        <p:guide orient="horz" pos="3225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CEE0F9E-EE3A-4D85-92B4-709945D07A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5" y="4861155"/>
            <a:ext cx="5683914" cy="46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4224DF-4E30-468D-ADED-F7DAE3824D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6763"/>
            <a:ext cx="6821487" cy="3838575"/>
          </a:xfrm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4224DF-4E30-468D-ADED-F7DAE3824DB9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0231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BACD1E-A16D-4786-9CD7-B84F37C1D92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605324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CDCC6-45B8-42E7-8F1E-49E4E4D3993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948058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17D5C6-56FA-42ED-AE44-7CE311F2ED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89902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BAE39-692D-4733-906E-783359E440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7908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842BDA-F8C6-4831-B90E-DC86D50D975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944403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221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463BD-0654-495C-8589-030B56BF6C1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29917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D2A8A-688F-471F-8FD5-2EEFEC81CD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091516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842D4-7EDE-4F56-AAD4-2680D6E5CA1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64517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E26C6-C172-4121-8CB6-1145652BCD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64938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0DF1C-9BC7-4593-8663-0EBC909EBB2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645853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60463-0CC8-4BF9-8D12-A93E1E1413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56059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DBE4E-A6C9-4470-A0E1-44EAAC7B35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459074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340768"/>
            <a:ext cx="10812957" cy="4679032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F3DF5-56DA-4780-8A62-806AF3EFD1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11189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53459-96B2-477B-8DA4-D2377AC867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366924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7556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7556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A6F7D-5046-4531-A78D-5D6F838272B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7255905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755651" y="304800"/>
            <a:ext cx="10678583" cy="5715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DEB62-5E13-4BC4-BE8E-7F0C759D3E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29495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sz="2000"/>
          </a:p>
        </p:txBody>
      </p:sp>
      <p:sp>
        <p:nvSpPr>
          <p:cNvPr id="1873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3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4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Verdan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48842BDA-F8C6-4831-B90E-DC86D50D975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93" y="370788"/>
            <a:ext cx="1474959" cy="540161"/>
          </a:xfrm>
          <a:prstGeom prst="rect">
            <a:avLst/>
          </a:prstGeom>
        </p:spPr>
      </p:pic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768349" y="947461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0 w 10000"/>
              <a:gd name="connsiteY0" fmla="*/ 0 h 10000"/>
              <a:gd name="connsiteX1" fmla="*/ 5850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0" fmla="*/ 0 w 10000"/>
              <a:gd name="connsiteY0" fmla="*/ 0 h 10000"/>
              <a:gd name="connsiteX1" fmla="*/ 3552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 stroke="0">
                <a:moveTo>
                  <a:pt x="0" y="0"/>
                </a:moveTo>
                <a:lnTo>
                  <a:pt x="3552" y="0"/>
                </a:lnTo>
                <a:lnTo>
                  <a:pt x="3552" y="10000"/>
                </a:lnTo>
                <a:lnTo>
                  <a:pt x="0" y="10000"/>
                </a:lnTo>
                <a:lnTo>
                  <a:pt x="0" y="0"/>
                </a:lnTo>
                <a:close/>
              </a:path>
              <a:path w="10000" h="10000">
                <a:moveTo>
                  <a:pt x="0" y="0"/>
                </a:moveTo>
                <a:lnTo>
                  <a:pt x="10000" y="0"/>
                </a:lnTo>
              </a:path>
            </a:pathLst>
          </a:custGeom>
          <a:solidFill>
            <a:schemeClr val="accent2"/>
          </a:solidFill>
          <a:ln w="9525" cap="sq" cmpd="thinThick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38" r:id="rId2"/>
    <p:sldLayoutId id="2147484639" r:id="rId3"/>
    <p:sldLayoutId id="2147484640" r:id="rId4"/>
    <p:sldLayoutId id="2147484653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  <p:sldLayoutId id="2147484651" r:id="rId16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2090738" y="1196751"/>
            <a:ext cx="8109718" cy="489305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endParaRPr lang="en-US" altLang="zh-TW" sz="3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鑄造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格子體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品質管理系統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122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3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3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182C3D-857D-40A3-813F-830C9D5DD49A}" type="slidenum">
              <a:rPr kumimoji="0" lang="en-US" altLang="zh-TW" sz="120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kumimoji="0" lang="en-US" altLang="zh-TW" sz="1200"/>
          </a:p>
        </p:txBody>
      </p:sp>
      <p:pic>
        <p:nvPicPr>
          <p:cNvPr id="5126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240360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文字方塊 1"/>
          <p:cNvSpPr txBox="1">
            <a:spLocks noChangeArrowheads="1"/>
          </p:cNvSpPr>
          <p:nvPr/>
        </p:nvSpPr>
        <p:spPr bwMode="auto">
          <a:xfrm>
            <a:off x="2526842" y="4581128"/>
            <a:ext cx="712879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 algn="ctr"/>
            <a:endParaRPr lang="en-US" altLang="zh-TW" b="1" dirty="0">
              <a:latin typeface="+mn-ea"/>
              <a:ea typeface="+mn-ea"/>
            </a:endParaRPr>
          </a:p>
          <a:p>
            <a:pPr algn="ctr"/>
            <a:r>
              <a:rPr lang="zh-TW" altLang="en-US" sz="3200" b="1" dirty="0">
                <a:latin typeface="+mn-ea"/>
                <a:ea typeface="+mn-ea"/>
              </a:rPr>
              <a:t>資訊中心</a:t>
            </a:r>
            <a:endParaRPr lang="en-US" altLang="zh-TW" sz="32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032397B5-4EEF-DA0B-BF3C-DBF10CEB3E0D}"/>
              </a:ext>
            </a:extLst>
          </p:cNvPr>
          <p:cNvSpPr/>
          <p:nvPr/>
        </p:nvSpPr>
        <p:spPr>
          <a:xfrm>
            <a:off x="695400" y="6326370"/>
            <a:ext cx="799975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運作流程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先點選       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背景程式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待畫面告知 成功連線到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COM1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時再開啟       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網頁</a:t>
            </a:r>
            <a:endParaRPr lang="en-US" altLang="zh-TW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68F9731-3B6C-9E94-6F82-5079D03D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整體運作流程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E1C345-000E-9594-DA07-CC6B1EDB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11701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29601573-DA83-2096-7E5D-99B5BE036618}"/>
              </a:ext>
            </a:extLst>
          </p:cNvPr>
          <p:cNvGrpSpPr/>
          <p:nvPr/>
        </p:nvGrpSpPr>
        <p:grpSpPr>
          <a:xfrm>
            <a:off x="2567608" y="6326370"/>
            <a:ext cx="308098" cy="369332"/>
            <a:chOff x="9638330" y="2689238"/>
            <a:chExt cx="308098" cy="369332"/>
          </a:xfrm>
        </p:grpSpPr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A809F001-BB73-E269-94AB-7A331007B8C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19E48502-E84E-0136-5C3C-A4EAAB784E5D}"/>
                </a:ext>
              </a:extLst>
            </p:cNvPr>
            <p:cNvSpPr/>
            <p:nvPr/>
          </p:nvSpPr>
          <p:spPr>
            <a:xfrm>
              <a:off x="9638330" y="2689238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2AC640B8-F55F-4689-88B0-6923D6CAA0D3}"/>
              </a:ext>
            </a:extLst>
          </p:cNvPr>
          <p:cNvGrpSpPr/>
          <p:nvPr/>
        </p:nvGrpSpPr>
        <p:grpSpPr>
          <a:xfrm>
            <a:off x="7752184" y="6325011"/>
            <a:ext cx="308097" cy="369332"/>
            <a:chOff x="9638330" y="2689238"/>
            <a:chExt cx="308097" cy="369332"/>
          </a:xfrm>
        </p:grpSpPr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858E17E8-367F-D028-21EB-D91141A14CF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5080D2F-AD97-CF53-67A3-35148C2571BC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pic>
        <p:nvPicPr>
          <p:cNvPr id="8" name="圖片 7">
            <a:extLst>
              <a:ext uri="{FF2B5EF4-FFF2-40B4-BE49-F238E27FC236}">
                <a16:creationId xmlns:a16="http://schemas.microsoft.com/office/drawing/2014/main" id="{89FA682C-F898-8885-6818-D458F69A3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62" y="1645989"/>
            <a:ext cx="1190791" cy="1076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5001144-96BC-7424-52FF-88874162526D}"/>
              </a:ext>
            </a:extLst>
          </p:cNvPr>
          <p:cNvSpPr/>
          <p:nvPr/>
        </p:nvSpPr>
        <p:spPr>
          <a:xfrm>
            <a:off x="771006" y="2779266"/>
            <a:ext cx="341632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先點選</a:t>
            </a:r>
            <a:r>
              <a:rPr lang="zh-TW" altLang="en-US" sz="180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格子體測厚儀</a:t>
            </a:r>
            <a:r>
              <a:rPr lang="en-US" altLang="zh-TW" sz="180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(</a:t>
            </a:r>
            <a:r>
              <a:rPr lang="zh-TW" altLang="en-US" sz="180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單筆</a:t>
            </a:r>
            <a:r>
              <a:rPr lang="en-US" altLang="zh-TW" sz="180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)</a:t>
            </a:r>
          </a:p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等待畫面出現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成功連線到 </a:t>
            </a:r>
            <a:r>
              <a:rPr lang="en-US" altLang="zh-TW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COM1</a:t>
            </a:r>
            <a:endParaRPr lang="zh-TW" altLang="en-US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DBF95A-F610-D1F4-7CF9-B06C4D7D846A}"/>
              </a:ext>
            </a:extLst>
          </p:cNvPr>
          <p:cNvSpPr/>
          <p:nvPr/>
        </p:nvSpPr>
        <p:spPr>
          <a:xfrm>
            <a:off x="766233" y="4810689"/>
            <a:ext cx="409699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等待畫面出現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成功連線到 </a:t>
            </a:r>
            <a:r>
              <a:rPr lang="en-US" altLang="zh-TW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COM1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</a:endParaRPr>
          </a:p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再點擊</a:t>
            </a:r>
            <a:r>
              <a:rPr lang="en-US" altLang="zh-TW" sz="1800" cap="none" spc="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MES-</a:t>
            </a:r>
            <a:r>
              <a:rPr lang="zh-TW" altLang="en-US" sz="1800" cap="none" spc="0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</a:rPr>
              <a:t>格子體</a:t>
            </a:r>
            <a:endParaRPr lang="en-US" altLang="zh-TW" sz="1800" cap="none" spc="0" dirty="0">
              <a:ln w="0"/>
              <a:solidFill>
                <a:srgbClr val="00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87A074C2-D12D-9A8B-BE86-14DAD19F2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61" y="3559888"/>
            <a:ext cx="1223267" cy="1076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76F2B768-410A-C3C2-1D47-A5B6AE42E163}"/>
              </a:ext>
            </a:extLst>
          </p:cNvPr>
          <p:cNvGrpSpPr/>
          <p:nvPr/>
        </p:nvGrpSpPr>
        <p:grpSpPr>
          <a:xfrm>
            <a:off x="1810166" y="2439147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391D204-4DAF-B8AE-46B3-9762243F604D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04A0665-DD85-124C-60C1-99939C2955D2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2267CD49-8A24-42A5-209C-F4F188353371}"/>
              </a:ext>
            </a:extLst>
          </p:cNvPr>
          <p:cNvGrpSpPr/>
          <p:nvPr/>
        </p:nvGrpSpPr>
        <p:grpSpPr>
          <a:xfrm>
            <a:off x="1845241" y="4415799"/>
            <a:ext cx="308097" cy="369332"/>
            <a:chOff x="9638330" y="2689238"/>
            <a:chExt cx="308097" cy="369332"/>
          </a:xfrm>
        </p:grpSpPr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C6E7D66-D5AC-CDB8-48C5-BFC9FC49784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10515F2-5D7A-BB2F-9799-4C939D3CDD5F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pic>
        <p:nvPicPr>
          <p:cNvPr id="17" name="圖片 16">
            <a:extLst>
              <a:ext uri="{FF2B5EF4-FFF2-40B4-BE49-F238E27FC236}">
                <a16:creationId xmlns:a16="http://schemas.microsoft.com/office/drawing/2014/main" id="{BF364682-1C7B-5958-00C2-10A4D51B1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070" y="1683669"/>
            <a:ext cx="7178151" cy="3738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998079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09AF8-5F15-7CC1-CB8D-AB60E5127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715C57-06EE-314B-0D39-64AD8F89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頁面功能介紹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D55765-C97D-53CA-006A-9F3AFA2D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4636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pic>
        <p:nvPicPr>
          <p:cNvPr id="39" name="內容版面配置區 38">
            <a:extLst>
              <a:ext uri="{FF2B5EF4-FFF2-40B4-BE49-F238E27FC236}">
                <a16:creationId xmlns:a16="http://schemas.microsoft.com/office/drawing/2014/main" id="{E54B2A53-8DF4-F918-7F47-F34FE7118C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100" y="1268760"/>
            <a:ext cx="7054841" cy="4608512"/>
          </a:xfrm>
        </p:spPr>
      </p:pic>
      <p:grpSp>
        <p:nvGrpSpPr>
          <p:cNvPr id="23" name="群組 22">
            <a:extLst>
              <a:ext uri="{FF2B5EF4-FFF2-40B4-BE49-F238E27FC236}">
                <a16:creationId xmlns:a16="http://schemas.microsoft.com/office/drawing/2014/main" id="{691D900E-E685-4246-2E01-59E69C23C9B6}"/>
              </a:ext>
            </a:extLst>
          </p:cNvPr>
          <p:cNvGrpSpPr/>
          <p:nvPr/>
        </p:nvGrpSpPr>
        <p:grpSpPr>
          <a:xfrm>
            <a:off x="8129111" y="1468261"/>
            <a:ext cx="311304" cy="369332"/>
            <a:chOff x="9630717" y="2687879"/>
            <a:chExt cx="311304" cy="369332"/>
          </a:xfrm>
        </p:grpSpPr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6B97029-7DBB-EA9C-9D03-4B0109263759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DE4B52F-3C30-F160-1333-7499331ED439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B80407D6-99D1-1E22-9C5B-B1472D0DAA48}"/>
              </a:ext>
            </a:extLst>
          </p:cNvPr>
          <p:cNvSpPr/>
          <p:nvPr/>
        </p:nvSpPr>
        <p:spPr bwMode="auto">
          <a:xfrm>
            <a:off x="4367808" y="2132856"/>
            <a:ext cx="1048122" cy="242218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76935DEE-747C-B490-D50E-38F8EE85AEF0}"/>
              </a:ext>
            </a:extLst>
          </p:cNvPr>
          <p:cNvSpPr/>
          <p:nvPr/>
        </p:nvSpPr>
        <p:spPr bwMode="auto">
          <a:xfrm>
            <a:off x="3215680" y="2126791"/>
            <a:ext cx="1048122" cy="242218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B55BD0CE-F341-3CC1-859D-8D44BE99AC71}"/>
              </a:ext>
            </a:extLst>
          </p:cNvPr>
          <p:cNvSpPr/>
          <p:nvPr/>
        </p:nvSpPr>
        <p:spPr bwMode="auto">
          <a:xfrm>
            <a:off x="1383483" y="2287810"/>
            <a:ext cx="1076376" cy="231279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AAF6E9B7-1267-A0F7-F2EF-69DB0C32CB23}"/>
              </a:ext>
            </a:extLst>
          </p:cNvPr>
          <p:cNvSpPr/>
          <p:nvPr/>
        </p:nvSpPr>
        <p:spPr bwMode="auto">
          <a:xfrm>
            <a:off x="1383482" y="1977094"/>
            <a:ext cx="1076376" cy="231279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37800104-8860-D295-8F37-8BD90E703920}"/>
              </a:ext>
            </a:extLst>
          </p:cNvPr>
          <p:cNvSpPr/>
          <p:nvPr/>
        </p:nvSpPr>
        <p:spPr bwMode="auto">
          <a:xfrm>
            <a:off x="1383482" y="2598526"/>
            <a:ext cx="1076376" cy="231279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FBC10E5E-590F-A0C5-8D00-1D183C4C1167}"/>
              </a:ext>
            </a:extLst>
          </p:cNvPr>
          <p:cNvSpPr/>
          <p:nvPr/>
        </p:nvSpPr>
        <p:spPr bwMode="auto">
          <a:xfrm>
            <a:off x="4367808" y="2606129"/>
            <a:ext cx="1048122" cy="223676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A6F13D5A-FADE-99EE-6C21-3638E396361E}"/>
              </a:ext>
            </a:extLst>
          </p:cNvPr>
          <p:cNvSpPr/>
          <p:nvPr/>
        </p:nvSpPr>
        <p:spPr bwMode="auto">
          <a:xfrm>
            <a:off x="3215680" y="2600064"/>
            <a:ext cx="1048122" cy="223676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B7C0CB4-EAF9-B8C6-DE0C-713FB53F6AD0}"/>
              </a:ext>
            </a:extLst>
          </p:cNvPr>
          <p:cNvGrpSpPr/>
          <p:nvPr/>
        </p:nvGrpSpPr>
        <p:grpSpPr>
          <a:xfrm>
            <a:off x="2187626" y="1968663"/>
            <a:ext cx="260008" cy="261610"/>
            <a:chOff x="9608146" y="2687879"/>
            <a:chExt cx="356443" cy="382953"/>
          </a:xfrm>
        </p:grpSpPr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B919DFFD-5047-FFEA-12CE-005E56703FF8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5687B74-A45C-71D7-433D-B0E700F8C4A8}"/>
                </a:ext>
              </a:extLst>
            </p:cNvPr>
            <p:cNvSpPr/>
            <p:nvPr/>
          </p:nvSpPr>
          <p:spPr>
            <a:xfrm>
              <a:off x="9608146" y="2687879"/>
              <a:ext cx="356443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75863DDB-C72B-F5E3-874F-4729ADC0B8F7}"/>
              </a:ext>
            </a:extLst>
          </p:cNvPr>
          <p:cNvGrpSpPr/>
          <p:nvPr/>
        </p:nvGrpSpPr>
        <p:grpSpPr>
          <a:xfrm>
            <a:off x="2183548" y="2275807"/>
            <a:ext cx="260008" cy="261610"/>
            <a:chOff x="9608146" y="2687879"/>
            <a:chExt cx="356443" cy="382953"/>
          </a:xfrm>
        </p:grpSpPr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0FE49951-EC0B-B23D-2816-5124BCB99C4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A5209E9-ADC2-AF4E-484A-FA032279E8A1}"/>
                </a:ext>
              </a:extLst>
            </p:cNvPr>
            <p:cNvSpPr/>
            <p:nvPr/>
          </p:nvSpPr>
          <p:spPr>
            <a:xfrm>
              <a:off x="9608146" y="2687879"/>
              <a:ext cx="356443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86F5B46A-D8FF-BEDE-4D28-CD42495780DD}"/>
              </a:ext>
            </a:extLst>
          </p:cNvPr>
          <p:cNvGrpSpPr/>
          <p:nvPr/>
        </p:nvGrpSpPr>
        <p:grpSpPr>
          <a:xfrm>
            <a:off x="2183549" y="2587162"/>
            <a:ext cx="260008" cy="261610"/>
            <a:chOff x="9608146" y="2687879"/>
            <a:chExt cx="356443" cy="382953"/>
          </a:xfrm>
        </p:grpSpPr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D7A6325D-8334-579E-A493-DCE3AE9081C5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CAB4EB08-6E24-A703-587F-97F6886A565E}"/>
                </a:ext>
              </a:extLst>
            </p:cNvPr>
            <p:cNvSpPr/>
            <p:nvPr/>
          </p:nvSpPr>
          <p:spPr>
            <a:xfrm>
              <a:off x="9608146" y="2687879"/>
              <a:ext cx="356443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5</a:t>
              </a:r>
            </a:p>
          </p:txBody>
        </p:sp>
      </p:grp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1A9C5346-B26A-3631-1725-6BCB1F3B541D}"/>
              </a:ext>
            </a:extLst>
          </p:cNvPr>
          <p:cNvGrpSpPr/>
          <p:nvPr/>
        </p:nvGrpSpPr>
        <p:grpSpPr>
          <a:xfrm>
            <a:off x="4000592" y="2122661"/>
            <a:ext cx="260008" cy="261610"/>
            <a:chOff x="9608146" y="2687879"/>
            <a:chExt cx="356443" cy="382953"/>
          </a:xfrm>
        </p:grpSpPr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CFE8F266-B5C9-BCF3-7AB6-57814E0725B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EB99B33C-0974-2B7D-EBA6-B96FE4FCE4FE}"/>
                </a:ext>
              </a:extLst>
            </p:cNvPr>
            <p:cNvSpPr/>
            <p:nvPr/>
          </p:nvSpPr>
          <p:spPr>
            <a:xfrm>
              <a:off x="9608146" y="2687879"/>
              <a:ext cx="356443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6</a:t>
              </a:r>
            </a:p>
          </p:txBody>
        </p:sp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7DCB8B6C-9EDB-0770-C36B-AAC5D6786CFD}"/>
              </a:ext>
            </a:extLst>
          </p:cNvPr>
          <p:cNvGrpSpPr/>
          <p:nvPr/>
        </p:nvGrpSpPr>
        <p:grpSpPr>
          <a:xfrm>
            <a:off x="5152720" y="2121972"/>
            <a:ext cx="260008" cy="261610"/>
            <a:chOff x="9608146" y="2687879"/>
            <a:chExt cx="356443" cy="382953"/>
          </a:xfrm>
        </p:grpSpPr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055D1567-0F61-DCCF-57DB-35379B17EB03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122CF8B5-FFDF-8C58-A7BC-8B8414A0311F}"/>
                </a:ext>
              </a:extLst>
            </p:cNvPr>
            <p:cNvSpPr/>
            <p:nvPr/>
          </p:nvSpPr>
          <p:spPr>
            <a:xfrm>
              <a:off x="9608146" y="2687879"/>
              <a:ext cx="356443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7</a:t>
              </a:r>
            </a:p>
          </p:txBody>
        </p:sp>
      </p:grp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788D4B50-18B0-B197-2D28-143989D7D9EC}"/>
              </a:ext>
            </a:extLst>
          </p:cNvPr>
          <p:cNvGrpSpPr/>
          <p:nvPr/>
        </p:nvGrpSpPr>
        <p:grpSpPr>
          <a:xfrm>
            <a:off x="4010995" y="2581097"/>
            <a:ext cx="260008" cy="261610"/>
            <a:chOff x="9608146" y="2687879"/>
            <a:chExt cx="356443" cy="382953"/>
          </a:xfrm>
        </p:grpSpPr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3EC3CE68-1A20-493C-1FEC-F20998663DD4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AEBA0C70-9D6C-9B48-17FF-882FE9BD4172}"/>
                </a:ext>
              </a:extLst>
            </p:cNvPr>
            <p:cNvSpPr/>
            <p:nvPr/>
          </p:nvSpPr>
          <p:spPr>
            <a:xfrm>
              <a:off x="9608146" y="2687879"/>
              <a:ext cx="356443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</a:p>
          </p:txBody>
        </p: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4367202B-7661-55FB-50E4-2D90129F6EE7}"/>
              </a:ext>
            </a:extLst>
          </p:cNvPr>
          <p:cNvGrpSpPr/>
          <p:nvPr/>
        </p:nvGrpSpPr>
        <p:grpSpPr>
          <a:xfrm>
            <a:off x="5149514" y="2587736"/>
            <a:ext cx="266419" cy="276999"/>
            <a:chOff x="9603752" y="2687879"/>
            <a:chExt cx="365232" cy="405480"/>
          </a:xfrm>
        </p:grpSpPr>
        <p:sp>
          <p:nvSpPr>
            <p:cNvPr id="93" name="橢圓 92">
              <a:extLst>
                <a:ext uri="{FF2B5EF4-FFF2-40B4-BE49-F238E27FC236}">
                  <a16:creationId xmlns:a16="http://schemas.microsoft.com/office/drawing/2014/main" id="{1BDC30CD-E107-327E-6F7A-24635F913FE7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8D858EC9-35EC-781D-2883-2C4A54F95EB4}"/>
                </a:ext>
              </a:extLst>
            </p:cNvPr>
            <p:cNvSpPr/>
            <p:nvPr/>
          </p:nvSpPr>
          <p:spPr>
            <a:xfrm>
              <a:off x="9603752" y="2687879"/>
              <a:ext cx="365232" cy="40548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9</a:t>
              </a:r>
            </a:p>
          </p:txBody>
        </p: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3A94B0C3-1E28-4940-F454-E0DEF35C22D3}"/>
              </a:ext>
            </a:extLst>
          </p:cNvPr>
          <p:cNvGrpSpPr/>
          <p:nvPr/>
        </p:nvGrpSpPr>
        <p:grpSpPr>
          <a:xfrm>
            <a:off x="8126912" y="1903279"/>
            <a:ext cx="311304" cy="369332"/>
            <a:chOff x="9630717" y="2687879"/>
            <a:chExt cx="311304" cy="369332"/>
          </a:xfrm>
        </p:grpSpPr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F69C5CC5-2019-1718-2524-855E10CA47D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C1ED438A-819B-200F-545A-6FCB20F5DD1F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07344267-839A-8806-9E00-B05AD95EF7BE}"/>
              </a:ext>
            </a:extLst>
          </p:cNvPr>
          <p:cNvGrpSpPr/>
          <p:nvPr/>
        </p:nvGrpSpPr>
        <p:grpSpPr>
          <a:xfrm>
            <a:off x="8127521" y="2737988"/>
            <a:ext cx="311304" cy="369332"/>
            <a:chOff x="9630717" y="2687879"/>
            <a:chExt cx="311304" cy="369332"/>
          </a:xfrm>
        </p:grpSpPr>
        <p:sp>
          <p:nvSpPr>
            <p:cNvPr id="99" name="橢圓 98">
              <a:extLst>
                <a:ext uri="{FF2B5EF4-FFF2-40B4-BE49-F238E27FC236}">
                  <a16:creationId xmlns:a16="http://schemas.microsoft.com/office/drawing/2014/main" id="{D9789153-13C6-6461-070A-0357CDC3C10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5E4DE05B-3BA1-7F54-4EDC-A17F26F009EF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5</a:t>
              </a:r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F00A0EFC-1455-2749-06EC-E668A6672F55}"/>
              </a:ext>
            </a:extLst>
          </p:cNvPr>
          <p:cNvGrpSpPr/>
          <p:nvPr/>
        </p:nvGrpSpPr>
        <p:grpSpPr>
          <a:xfrm>
            <a:off x="8140364" y="3161761"/>
            <a:ext cx="311304" cy="369332"/>
            <a:chOff x="9630717" y="2687879"/>
            <a:chExt cx="311304" cy="369332"/>
          </a:xfrm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C611EFB0-F43D-AB59-E46B-2984B437DACA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F01766C4-4EEE-C50D-4A65-D7DBFE3D5019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6</a:t>
              </a:r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2A2EB06D-BE9F-2D12-0126-6C1125B70AFF}"/>
              </a:ext>
            </a:extLst>
          </p:cNvPr>
          <p:cNvGrpSpPr/>
          <p:nvPr/>
        </p:nvGrpSpPr>
        <p:grpSpPr>
          <a:xfrm>
            <a:off x="8138165" y="3573807"/>
            <a:ext cx="311304" cy="369332"/>
            <a:chOff x="9630717" y="2687879"/>
            <a:chExt cx="311304" cy="369332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4AEBD9DD-B77E-973E-1BCE-F6F2EF46B26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081372D-DDCD-8A1F-1F55-EA6D1264FFC7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7</a:t>
              </a:r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9A01B952-1F3D-0A87-599A-B0E242DC0F4B}"/>
              </a:ext>
            </a:extLst>
          </p:cNvPr>
          <p:cNvGrpSpPr/>
          <p:nvPr/>
        </p:nvGrpSpPr>
        <p:grpSpPr>
          <a:xfrm>
            <a:off x="8138774" y="4003081"/>
            <a:ext cx="311304" cy="369332"/>
            <a:chOff x="9630717" y="2687879"/>
            <a:chExt cx="311304" cy="369332"/>
          </a:xfrm>
        </p:grpSpPr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986138A6-2397-56F7-9E54-3FDC2F0DADF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D2D3C7B-A429-24C5-9F85-88FAE6BD17F8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1297E275-AB51-CB20-998E-F5050AC70CA1}"/>
              </a:ext>
            </a:extLst>
          </p:cNvPr>
          <p:cNvGrpSpPr/>
          <p:nvPr/>
        </p:nvGrpSpPr>
        <p:grpSpPr>
          <a:xfrm>
            <a:off x="8139768" y="4417002"/>
            <a:ext cx="308098" cy="369332"/>
            <a:chOff x="9632320" y="2687879"/>
            <a:chExt cx="308098" cy="369332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5001BF23-79E2-08BC-8EB9-D4609FBFB8D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B1D60A15-7741-8DCE-86F4-F9065161789E}"/>
                </a:ext>
              </a:extLst>
            </p:cNvPr>
            <p:cNvSpPr/>
            <p:nvPr/>
          </p:nvSpPr>
          <p:spPr>
            <a:xfrm>
              <a:off x="9632320" y="2687879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9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13" name="矩形 112">
            <a:extLst>
              <a:ext uri="{FF2B5EF4-FFF2-40B4-BE49-F238E27FC236}">
                <a16:creationId xmlns:a16="http://schemas.microsoft.com/office/drawing/2014/main" id="{A2370C4E-585F-9636-B487-52B17625593D}"/>
              </a:ext>
            </a:extLst>
          </p:cNvPr>
          <p:cNvSpPr/>
          <p:nvPr/>
        </p:nvSpPr>
        <p:spPr>
          <a:xfrm>
            <a:off x="8416019" y="1456976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機台編碼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75E6D3D-6DE4-3E7E-4767-E6595D5FF037}"/>
              </a:ext>
            </a:extLst>
          </p:cNvPr>
          <p:cNvSpPr/>
          <p:nvPr/>
        </p:nvSpPr>
        <p:spPr>
          <a:xfrm>
            <a:off x="8414578" y="1900139"/>
            <a:ext cx="199766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批號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u="sng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250508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02)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0F436A5-66F4-2705-1C30-B58D9D14F22A}"/>
              </a:ext>
            </a:extLst>
          </p:cNvPr>
          <p:cNvSpPr/>
          <p:nvPr/>
        </p:nvSpPr>
        <p:spPr>
          <a:xfrm>
            <a:off x="8068421" y="2299953"/>
            <a:ext cx="305724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 班別會根據時間自動轉換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6929DE7-DC28-1EBB-4C28-5B72181CFF0E}"/>
              </a:ext>
            </a:extLst>
          </p:cNvPr>
          <p:cNvSpPr/>
          <p:nvPr/>
        </p:nvSpPr>
        <p:spPr>
          <a:xfrm>
            <a:off x="8422644" y="2749919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作業人員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0F464795-1927-E495-657C-4F2A3908205B}"/>
              </a:ext>
            </a:extLst>
          </p:cNvPr>
          <p:cNvSpPr/>
          <p:nvPr/>
        </p:nvSpPr>
        <p:spPr>
          <a:xfrm>
            <a:off x="8415912" y="3159561"/>
            <a:ext cx="133882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格子體規格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74A7CC0C-A551-4965-CF00-4E6A6BD6B600}"/>
              </a:ext>
            </a:extLst>
          </p:cNvPr>
          <p:cNvSpPr/>
          <p:nvPr/>
        </p:nvSpPr>
        <p:spPr>
          <a:xfrm>
            <a:off x="8414578" y="3569203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模具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編碼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3B519E8-6829-4A66-323A-261674B9AB23}"/>
              </a:ext>
            </a:extLst>
          </p:cNvPr>
          <p:cNvSpPr/>
          <p:nvPr/>
        </p:nvSpPr>
        <p:spPr>
          <a:xfrm>
            <a:off x="8414578" y="3992894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工單編號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774A138-8047-B24A-3D92-DD76B6E8DC36}"/>
              </a:ext>
            </a:extLst>
          </p:cNvPr>
          <p:cNvSpPr/>
          <p:nvPr/>
        </p:nvSpPr>
        <p:spPr>
          <a:xfrm>
            <a:off x="8414578" y="4412723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料號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D92FD591-8DEF-3AC0-0065-E9D27D9F9E95}"/>
              </a:ext>
            </a:extLst>
          </p:cNvPr>
          <p:cNvSpPr/>
          <p:nvPr/>
        </p:nvSpPr>
        <p:spPr bwMode="auto">
          <a:xfrm>
            <a:off x="5519936" y="1916832"/>
            <a:ext cx="2304256" cy="956281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2" name="群組 121">
            <a:extLst>
              <a:ext uri="{FF2B5EF4-FFF2-40B4-BE49-F238E27FC236}">
                <a16:creationId xmlns:a16="http://schemas.microsoft.com/office/drawing/2014/main" id="{07DC7FB7-1D56-57A1-893F-95E33D9905FE}"/>
              </a:ext>
            </a:extLst>
          </p:cNvPr>
          <p:cNvGrpSpPr/>
          <p:nvPr/>
        </p:nvGrpSpPr>
        <p:grpSpPr>
          <a:xfrm>
            <a:off x="7614894" y="2709088"/>
            <a:ext cx="348173" cy="276999"/>
            <a:chOff x="9547707" y="2687879"/>
            <a:chExt cx="477308" cy="405480"/>
          </a:xfrm>
        </p:grpSpPr>
        <p:sp>
          <p:nvSpPr>
            <p:cNvPr id="123" name="橢圓 122">
              <a:extLst>
                <a:ext uri="{FF2B5EF4-FFF2-40B4-BE49-F238E27FC236}">
                  <a16:creationId xmlns:a16="http://schemas.microsoft.com/office/drawing/2014/main" id="{D2209402-6D9A-5048-B842-07EAFAD862C4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8FAD606F-1A57-1C76-80C4-478BFF5E375F}"/>
                </a:ext>
              </a:extLst>
            </p:cNvPr>
            <p:cNvSpPr/>
            <p:nvPr/>
          </p:nvSpPr>
          <p:spPr>
            <a:xfrm>
              <a:off x="9547707" y="2687879"/>
              <a:ext cx="477308" cy="40548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10</a:t>
              </a:r>
            </a:p>
          </p:txBody>
        </p:sp>
      </p:grp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0454CE6D-D2EC-637C-7641-1C9FA05C541A}"/>
              </a:ext>
            </a:extLst>
          </p:cNvPr>
          <p:cNvGrpSpPr/>
          <p:nvPr/>
        </p:nvGrpSpPr>
        <p:grpSpPr>
          <a:xfrm>
            <a:off x="8092025" y="4829390"/>
            <a:ext cx="431528" cy="369332"/>
            <a:chOff x="9570605" y="2687879"/>
            <a:chExt cx="431528" cy="369332"/>
          </a:xfrm>
        </p:grpSpPr>
        <p:sp>
          <p:nvSpPr>
            <p:cNvPr id="129" name="橢圓 128">
              <a:extLst>
                <a:ext uri="{FF2B5EF4-FFF2-40B4-BE49-F238E27FC236}">
                  <a16:creationId xmlns:a16="http://schemas.microsoft.com/office/drawing/2014/main" id="{2CCE9EF6-3F06-CAF1-009E-F39624A7F5F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5FF3837-5E01-AE06-0388-251DAC79F246}"/>
                </a:ext>
              </a:extLst>
            </p:cNvPr>
            <p:cNvSpPr/>
            <p:nvPr/>
          </p:nvSpPr>
          <p:spPr>
            <a:xfrm>
              <a:off x="9570605" y="2687879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10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31" name="矩形 130">
            <a:extLst>
              <a:ext uri="{FF2B5EF4-FFF2-40B4-BE49-F238E27FC236}">
                <a16:creationId xmlns:a16="http://schemas.microsoft.com/office/drawing/2014/main" id="{260FAB37-14D5-66C7-E295-1CBD344D8F97}"/>
              </a:ext>
            </a:extLst>
          </p:cNvPr>
          <p:cNvSpPr/>
          <p:nvPr/>
        </p:nvSpPr>
        <p:spPr>
          <a:xfrm>
            <a:off x="8414577" y="4827516"/>
            <a:ext cx="203132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數據接收查看視窗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0F259AE1-989D-2DEB-C2F6-8E6A8A1879F4}"/>
              </a:ext>
            </a:extLst>
          </p:cNvPr>
          <p:cNvSpPr/>
          <p:nvPr/>
        </p:nvSpPr>
        <p:spPr bwMode="auto">
          <a:xfrm>
            <a:off x="1995288" y="1657946"/>
            <a:ext cx="1076376" cy="231279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1FB007D3-B3CB-ABD1-070C-04A537F7B120}"/>
              </a:ext>
            </a:extLst>
          </p:cNvPr>
          <p:cNvGrpSpPr/>
          <p:nvPr/>
        </p:nvGrpSpPr>
        <p:grpSpPr>
          <a:xfrm>
            <a:off x="2867507" y="1700156"/>
            <a:ext cx="348173" cy="276999"/>
            <a:chOff x="9547707" y="2687879"/>
            <a:chExt cx="477308" cy="405480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3D4F44A7-D1E5-D15B-C46B-937B34C2FB4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CD9B1C45-03E6-F26C-D7A9-1BFBEBD09CE1}"/>
                </a:ext>
              </a:extLst>
            </p:cNvPr>
            <p:cNvSpPr/>
            <p:nvPr/>
          </p:nvSpPr>
          <p:spPr>
            <a:xfrm>
              <a:off x="9547707" y="2687879"/>
              <a:ext cx="477308" cy="40548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11</a:t>
              </a:r>
            </a:p>
          </p:txBody>
        </p:sp>
      </p:grp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E07B4FFF-49C7-0850-0514-2293B7099757}"/>
              </a:ext>
            </a:extLst>
          </p:cNvPr>
          <p:cNvGrpSpPr/>
          <p:nvPr/>
        </p:nvGrpSpPr>
        <p:grpSpPr>
          <a:xfrm>
            <a:off x="8093156" y="5244001"/>
            <a:ext cx="431528" cy="369332"/>
            <a:chOff x="9570605" y="2687879"/>
            <a:chExt cx="431528" cy="369332"/>
          </a:xfrm>
        </p:grpSpPr>
        <p:sp>
          <p:nvSpPr>
            <p:cNvPr id="137" name="橢圓 136">
              <a:extLst>
                <a:ext uri="{FF2B5EF4-FFF2-40B4-BE49-F238E27FC236}">
                  <a16:creationId xmlns:a16="http://schemas.microsoft.com/office/drawing/2014/main" id="{7C298DDA-6CA5-4440-BD0E-E21B8ED74E9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9A79FB98-FC34-64F3-C0D2-EE2A6D0A2859}"/>
                </a:ext>
              </a:extLst>
            </p:cNvPr>
            <p:cNvSpPr/>
            <p:nvPr/>
          </p:nvSpPr>
          <p:spPr>
            <a:xfrm>
              <a:off x="9570605" y="2687879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11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39" name="矩形 138">
            <a:extLst>
              <a:ext uri="{FF2B5EF4-FFF2-40B4-BE49-F238E27FC236}">
                <a16:creationId xmlns:a16="http://schemas.microsoft.com/office/drawing/2014/main" id="{C6EC2594-4ED9-8EB3-3318-8BB8EC26D05D}"/>
              </a:ext>
            </a:extLst>
          </p:cNvPr>
          <p:cNvSpPr/>
          <p:nvPr/>
        </p:nvSpPr>
        <p:spPr>
          <a:xfrm>
            <a:off x="8422642" y="5228884"/>
            <a:ext cx="243368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格子體 陰板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陽板 切換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15DF06E4-79CC-2DA3-C1B9-6FF99A6F7EF4}"/>
              </a:ext>
            </a:extLst>
          </p:cNvPr>
          <p:cNvSpPr/>
          <p:nvPr/>
        </p:nvSpPr>
        <p:spPr>
          <a:xfrm>
            <a:off x="766233" y="6310274"/>
            <a:ext cx="89595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 表格顯示數據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依據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規格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 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模具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，若其中一個選項不同所顯示的數據也不相同。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05572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A482-B095-B004-797E-0EB226A0D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AB2EEB-7D7C-4337-E5E5-190E5322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如何列印報表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?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15FA7F-C292-8F76-776B-C7E5CAB1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5361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D31DF86F-988F-1FDB-3BBD-91B4A9C25552}"/>
              </a:ext>
            </a:extLst>
          </p:cNvPr>
          <p:cNvGrpSpPr/>
          <p:nvPr/>
        </p:nvGrpSpPr>
        <p:grpSpPr>
          <a:xfrm>
            <a:off x="704518" y="6313192"/>
            <a:ext cx="431528" cy="369332"/>
            <a:chOff x="9576615" y="2689238"/>
            <a:chExt cx="431528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9248A2BB-240D-2A34-1CE2-A6EDAE2266B9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93FFE5E-A5F4-FEC9-7CC8-2F3843FE2F3A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11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1A6D15C6-2D90-1915-B213-5590D011A952}"/>
              </a:ext>
            </a:extLst>
          </p:cNvPr>
          <p:cNvSpPr/>
          <p:nvPr/>
        </p:nvSpPr>
        <p:spPr>
          <a:xfrm>
            <a:off x="1060539" y="6309115"/>
            <a:ext cx="847924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篩選</a:t>
            </a:r>
            <a:r>
              <a:rPr lang="zh-TW" altLang="en-US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日期</a:t>
            </a:r>
            <a:r>
              <a:rPr lang="en-US" altLang="zh-TW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班別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後點選 </a:t>
            </a:r>
            <a:r>
              <a:rPr lang="en-US" altLang="zh-TW" sz="1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Thincknes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Report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或是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Weight Report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來列印相對應的報表。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4E05180E-DEE8-1FC4-6828-7F1F2CD5E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95" y="1340768"/>
            <a:ext cx="6905981" cy="450994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D1788495-E611-A6CB-16F0-BDEE933AFEEF}"/>
              </a:ext>
            </a:extLst>
          </p:cNvPr>
          <p:cNvSpPr/>
          <p:nvPr/>
        </p:nvSpPr>
        <p:spPr bwMode="auto">
          <a:xfrm>
            <a:off x="6671486" y="1697613"/>
            <a:ext cx="1008690" cy="280155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D326C9E6-C8E9-D1D9-A629-EDB77132D230}"/>
              </a:ext>
            </a:extLst>
          </p:cNvPr>
          <p:cNvGrpSpPr/>
          <p:nvPr/>
        </p:nvGrpSpPr>
        <p:grpSpPr>
          <a:xfrm>
            <a:off x="7472374" y="1786688"/>
            <a:ext cx="431528" cy="369332"/>
            <a:chOff x="9576615" y="2689238"/>
            <a:chExt cx="431528" cy="369332"/>
          </a:xfrm>
        </p:grpSpPr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1B195287-0352-9CFA-6552-3B8CDB6A3BC8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B538A87-E97A-AA2D-B6D2-2E5F76A64A9B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11</a:t>
              </a:r>
            </a:p>
          </p:txBody>
        </p:sp>
      </p:grpSp>
      <p:pic>
        <p:nvPicPr>
          <p:cNvPr id="29" name="圖片 28">
            <a:extLst>
              <a:ext uri="{FF2B5EF4-FFF2-40B4-BE49-F238E27FC236}">
                <a16:creationId xmlns:a16="http://schemas.microsoft.com/office/drawing/2014/main" id="{2203E59B-D074-8168-8607-3BCF2BB50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877" y="2940255"/>
            <a:ext cx="2342615" cy="1856898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cxnSp>
        <p:nvCxnSpPr>
          <p:cNvPr id="43" name="直線單箭頭接點 40">
            <a:extLst>
              <a:ext uri="{FF2B5EF4-FFF2-40B4-BE49-F238E27FC236}">
                <a16:creationId xmlns:a16="http://schemas.microsoft.com/office/drawing/2014/main" id="{6F259D6A-D4B7-F472-08F8-0BF807C4A4D2}"/>
              </a:ext>
            </a:extLst>
          </p:cNvPr>
          <p:cNvCxnSpPr>
            <a:cxnSpLocks/>
            <a:stCxn id="22" idx="1"/>
            <a:endCxn id="29" idx="1"/>
          </p:cNvCxnSpPr>
          <p:nvPr/>
        </p:nvCxnSpPr>
        <p:spPr>
          <a:xfrm rot="10800000" flipV="1">
            <a:off x="3055878" y="1837690"/>
            <a:ext cx="3615609" cy="2031013"/>
          </a:xfrm>
          <a:prstGeom prst="bentConnector3">
            <a:avLst>
              <a:gd name="adj1" fmla="val 116589"/>
            </a:avLst>
          </a:prstGeom>
          <a:ln w="381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圖片 51">
            <a:extLst>
              <a:ext uri="{FF2B5EF4-FFF2-40B4-BE49-F238E27FC236}">
                <a16:creationId xmlns:a16="http://schemas.microsoft.com/office/drawing/2014/main" id="{2AAE1D09-38C1-9581-4A48-D3E0E0522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918" y="1340768"/>
            <a:ext cx="3192135" cy="45099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57" name="直線單箭頭接點 40">
            <a:extLst>
              <a:ext uri="{FF2B5EF4-FFF2-40B4-BE49-F238E27FC236}">
                <a16:creationId xmlns:a16="http://schemas.microsoft.com/office/drawing/2014/main" id="{CBF9E386-685E-B6B1-7612-BC623CEA7863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5398492" y="3868704"/>
            <a:ext cx="2785740" cy="0"/>
          </a:xfrm>
          <a:prstGeom prst="straightConnector1">
            <a:avLst/>
          </a:prstGeom>
          <a:ln w="38100">
            <a:solidFill>
              <a:srgbClr val="3333FF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9636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D860-BA91-12D2-8C49-045B6B0A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5DF3DD-4655-6552-BA94-7CCB138F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如何接收現場設備數據</a:t>
            </a:r>
            <a:r>
              <a:rPr lang="en-US" altLang="zh-TW" sz="4000" b="1" dirty="0"/>
              <a:t>?</a:t>
            </a:r>
            <a:endParaRPr lang="zh-TW" altLang="en-US" sz="40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CFEC93-E1CC-F8EB-A6A4-7A403825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484D19DD-DF80-0CF8-5E48-6AC556FD8484}"/>
              </a:ext>
            </a:extLst>
          </p:cNvPr>
          <p:cNvGrpSpPr/>
          <p:nvPr/>
        </p:nvGrpSpPr>
        <p:grpSpPr>
          <a:xfrm>
            <a:off x="704517" y="6313192"/>
            <a:ext cx="431528" cy="369332"/>
            <a:chOff x="9576614" y="2689238"/>
            <a:chExt cx="431528" cy="369332"/>
          </a:xfrm>
        </p:grpSpPr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D6456584-AC6D-C385-9DC7-8EE045A3F35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1868C72A-C402-BFDC-D025-C6531776718A}"/>
                </a:ext>
              </a:extLst>
            </p:cNvPr>
            <p:cNvSpPr/>
            <p:nvPr/>
          </p:nvSpPr>
          <p:spPr>
            <a:xfrm>
              <a:off x="9576614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12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81611E1B-CCB5-4870-7F07-67A540D96C62}"/>
              </a:ext>
            </a:extLst>
          </p:cNvPr>
          <p:cNvSpPr/>
          <p:nvPr/>
        </p:nvSpPr>
        <p:spPr>
          <a:xfrm>
            <a:off x="1060539" y="6309115"/>
            <a:ext cx="810189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接收數據：當按下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OK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按鈕後選項將進入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禁用狀態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，代表已經進入接收狀態。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D98656E-56D5-551E-05EC-9DE4525C8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2" y="1167629"/>
            <a:ext cx="6080830" cy="484110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E6E9894-E215-EF40-5222-E18968C179BB}"/>
              </a:ext>
            </a:extLst>
          </p:cNvPr>
          <p:cNvSpPr/>
          <p:nvPr/>
        </p:nvSpPr>
        <p:spPr bwMode="auto">
          <a:xfrm>
            <a:off x="4799856" y="2564904"/>
            <a:ext cx="1082452" cy="36004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E26401BD-6569-3D3D-AB62-EA19F8045A3B}"/>
              </a:ext>
            </a:extLst>
          </p:cNvPr>
          <p:cNvGrpSpPr/>
          <p:nvPr/>
        </p:nvGrpSpPr>
        <p:grpSpPr>
          <a:xfrm>
            <a:off x="5664472" y="2693388"/>
            <a:ext cx="431528" cy="369332"/>
            <a:chOff x="9576615" y="2689238"/>
            <a:chExt cx="431528" cy="369332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A0D92312-535D-2A08-5A71-4DF3EFEFE081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DF0C9D7-0F4F-8FA6-681D-E8B7E332903B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12</a:t>
              </a: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3C476273-F7A9-510F-BE31-017A952ADDDF}"/>
              </a:ext>
            </a:extLst>
          </p:cNvPr>
          <p:cNvSpPr/>
          <p:nvPr/>
        </p:nvSpPr>
        <p:spPr bwMode="auto">
          <a:xfrm>
            <a:off x="849104" y="1916832"/>
            <a:ext cx="3878744" cy="1008112"/>
          </a:xfrm>
          <a:prstGeom prst="rect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4DBAFB-6EBA-FC57-CD3A-A8A2B7511C2A}"/>
              </a:ext>
            </a:extLst>
          </p:cNvPr>
          <p:cNvSpPr/>
          <p:nvPr/>
        </p:nvSpPr>
        <p:spPr>
          <a:xfrm>
            <a:off x="7031684" y="1412776"/>
            <a:ext cx="475252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狀況排除</a:t>
            </a:r>
            <a:r>
              <a:rPr lang="en-US" altLang="zh-TW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</a:t>
            </a:r>
            <a:r>
              <a:rPr lang="zh-TW" altLang="en-US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量測時系統無法接收數據</a:t>
            </a:r>
            <a:endParaRPr lang="en-US" altLang="zh-TW" b="1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未依照正確的運作流程</a:t>
            </a:r>
            <a:endParaRPr lang="en-US" altLang="zh-TW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A: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請重新整理網頁即可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情形</a:t>
            </a:r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1: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順序顛倒 </a:t>
            </a:r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網頁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→ 背景程式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)</a:t>
            </a: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情形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2: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背景程式未完全開啟時，就打開網頁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----------------------------------------------------------</a:t>
            </a:r>
          </a:p>
          <a:p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 沒有顯示 厚度標準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重量標準 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請確認該規格在</a:t>
            </a:r>
            <a:r>
              <a:rPr lang="en-US" altLang="zh-TW" sz="1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WebISO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是否有標準，</a:t>
            </a:r>
            <a:b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</a:b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如有新的規格或是標準修訂，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請告知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MES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人員，並提出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程式客製需求單。</a:t>
            </a:r>
            <a:b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</a:br>
            <a:b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</a:b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情形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該規格沒有標準</a:t>
            </a:r>
            <a:endParaRPr lang="en-US" altLang="zh-TW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65271680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A5173-C82D-55B5-F2B2-FFAA8F23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54E3227-FCD6-D73B-57A4-3E20A07616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169"/>
          <a:stretch/>
        </p:blipFill>
        <p:spPr>
          <a:xfrm>
            <a:off x="1919535" y="1176934"/>
            <a:ext cx="8409230" cy="191705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4A94958-CEF9-ED23-15D8-1AFC7B01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常見問題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320DE1-0058-42FF-750E-C5FE9796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9180DE-A93A-7DC0-1D29-EFEED292F9CC}"/>
              </a:ext>
            </a:extLst>
          </p:cNvPr>
          <p:cNvSpPr/>
          <p:nvPr/>
        </p:nvSpPr>
        <p:spPr>
          <a:xfrm>
            <a:off x="1919536" y="3172610"/>
            <a:ext cx="858367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 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頁面出現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Failed to load grid types,</a:t>
            </a: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請立即告知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MES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人員確認是否為網路問題。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5C989D1C-F162-9D06-9651-0CAE3B4BFE5C}"/>
              </a:ext>
            </a:extLst>
          </p:cNvPr>
          <p:cNvGrpSpPr/>
          <p:nvPr/>
        </p:nvGrpSpPr>
        <p:grpSpPr>
          <a:xfrm>
            <a:off x="1993277" y="4005064"/>
            <a:ext cx="8333575" cy="1543929"/>
            <a:chOff x="756361" y="3978336"/>
            <a:chExt cx="6915264" cy="1281164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2342B9AB-DD78-3E8E-707B-5B047FD14A11}"/>
                </a:ext>
              </a:extLst>
            </p:cNvPr>
            <p:cNvGrpSpPr/>
            <p:nvPr/>
          </p:nvGrpSpPr>
          <p:grpSpPr>
            <a:xfrm>
              <a:off x="756361" y="3978336"/>
              <a:ext cx="6915264" cy="1281164"/>
              <a:chOff x="756361" y="3978336"/>
              <a:chExt cx="6915264" cy="1281164"/>
            </a:xfrm>
          </p:grpSpPr>
          <p:pic>
            <p:nvPicPr>
              <p:cNvPr id="19" name="圖片 18">
                <a:extLst>
                  <a:ext uri="{FF2B5EF4-FFF2-40B4-BE49-F238E27FC236}">
                    <a16:creationId xmlns:a16="http://schemas.microsoft.com/office/drawing/2014/main" id="{E3113746-82B4-B89B-C61C-1963DE8E70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361" y="4876846"/>
                <a:ext cx="6913858" cy="382654"/>
              </a:xfrm>
              <a:prstGeom prst="rect">
                <a:avLst/>
              </a:prstGeom>
            </p:spPr>
          </p:pic>
          <p:pic>
            <p:nvPicPr>
              <p:cNvPr id="12" name="圖片 11">
                <a:extLst>
                  <a:ext uri="{FF2B5EF4-FFF2-40B4-BE49-F238E27FC236}">
                    <a16:creationId xmlns:a16="http://schemas.microsoft.com/office/drawing/2014/main" id="{AF614EB3-A3F1-C94F-A138-9FA2D001C0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41401"/>
              <a:stretch/>
            </p:blipFill>
            <p:spPr>
              <a:xfrm>
                <a:off x="757767" y="3978336"/>
                <a:ext cx="6913858" cy="917316"/>
              </a:xfrm>
              <a:prstGeom prst="rect">
                <a:avLst/>
              </a:prstGeom>
            </p:spPr>
          </p:pic>
        </p:grpSp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22854109-A6F3-CE62-DE64-6C85BA3C6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43673" y="4901842"/>
              <a:ext cx="1008112" cy="265737"/>
            </a:xfrm>
            <a:prstGeom prst="rect">
              <a:avLst/>
            </a:prstGeom>
            <a:ln w="19050">
              <a:solidFill>
                <a:srgbClr val="0000FF"/>
              </a:solidFill>
            </a:ln>
          </p:spPr>
        </p:pic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C3FD216E-6B18-0266-A6A2-F7403398FC27}"/>
              </a:ext>
            </a:extLst>
          </p:cNvPr>
          <p:cNvSpPr/>
          <p:nvPr/>
        </p:nvSpPr>
        <p:spPr>
          <a:xfrm>
            <a:off x="1947087" y="5627617"/>
            <a:ext cx="691385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不排除有兩個工單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料號的情況，請確認遵循當下所生產的為基準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32756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3E99-5E1C-3C27-FE10-8549F7522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8DD0F5-342B-1A96-3974-AFDF7F8C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常見問題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C96863-83F9-2436-2781-5561718C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1E37FE5-835B-D0DF-CD1A-8DB12BE47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3" y="1532794"/>
            <a:ext cx="10668000" cy="143049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9EAE928-416B-18D7-F6B9-5FF6C19A1938}"/>
              </a:ext>
            </a:extLst>
          </p:cNvPr>
          <p:cNvSpPr/>
          <p:nvPr/>
        </p:nvSpPr>
        <p:spPr>
          <a:xfrm>
            <a:off x="680672" y="2958127"/>
            <a:ext cx="1075356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當操作人員按下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OK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後，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系統會根據該機台來儲存後續選項，後續只需修改機台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下拉式選單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)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選項，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系統將會自動帶出上一次所選擇的內容。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6B57B7-373F-BC1A-6F97-F3ABC2537FEA}"/>
              </a:ext>
            </a:extLst>
          </p:cNvPr>
          <p:cNvSpPr/>
          <p:nvPr/>
        </p:nvSpPr>
        <p:spPr>
          <a:xfrm>
            <a:off x="719219" y="3915954"/>
            <a:ext cx="1075356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狀況情形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：操作人員模具編號選錯，導致後續更改機台時無法更改模具編號。</a:t>
            </a:r>
            <a:r>
              <a:rPr lang="en-US" altLang="zh-TW" sz="1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紅色選項會影響藍色選項</a:t>
            </a:r>
            <a:r>
              <a:rPr lang="en-US" altLang="zh-TW" sz="1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)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3C225648-0996-F209-26BF-654DA7C7C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2" y="4424336"/>
            <a:ext cx="10668001" cy="1412534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CF36B07E-2208-BE23-563A-7A1F10114599}"/>
              </a:ext>
            </a:extLst>
          </p:cNvPr>
          <p:cNvSpPr/>
          <p:nvPr/>
        </p:nvSpPr>
        <p:spPr>
          <a:xfrm>
            <a:off x="680672" y="6182491"/>
            <a:ext cx="1075356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當操作人員選錯選項導致後續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系統自動帶出時，下拉式選項會是唯一值。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因此只需再次切換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格子體規格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系統將會重置後續欄位選項，無須重整頁面。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128E6CB-2C1B-04C8-DCB0-1AECB48840D3}"/>
              </a:ext>
            </a:extLst>
          </p:cNvPr>
          <p:cNvSpPr/>
          <p:nvPr/>
        </p:nvSpPr>
        <p:spPr bwMode="auto">
          <a:xfrm>
            <a:off x="6147174" y="4725330"/>
            <a:ext cx="1631440" cy="361967"/>
          </a:xfrm>
          <a:prstGeom prst="roundRect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6C2A3803-7906-6DE4-12FF-81A18819917D}"/>
              </a:ext>
            </a:extLst>
          </p:cNvPr>
          <p:cNvSpPr/>
          <p:nvPr/>
        </p:nvSpPr>
        <p:spPr bwMode="auto">
          <a:xfrm>
            <a:off x="4439816" y="4738661"/>
            <a:ext cx="1617636" cy="333389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266201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2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9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1725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73AF34-EC42-4013-981E-DB7623898E0C}" type="slidenum">
              <a:rPr kumimoji="0" lang="en-US" altLang="zh-TW" sz="90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zh-TW" sz="900"/>
          </a:p>
        </p:txBody>
      </p:sp>
      <p:sp>
        <p:nvSpPr>
          <p:cNvPr id="9" name="文字方塊 8"/>
          <p:cNvSpPr txBox="1"/>
          <p:nvPr/>
        </p:nvSpPr>
        <p:spPr>
          <a:xfrm>
            <a:off x="3827749" y="3104964"/>
            <a:ext cx="468269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6600" b="1" dirty="0">
                <a:solidFill>
                  <a:schemeClr val="accent6"/>
                </a:solidFill>
              </a:rPr>
              <a:t>Thank You</a:t>
            </a:r>
            <a:endParaRPr lang="zh-TW" altLang="en-US" sz="6600" b="1" dirty="0">
              <a:solidFill>
                <a:schemeClr val="accent6"/>
              </a:solidFill>
            </a:endParaRPr>
          </a:p>
        </p:txBody>
      </p:sp>
      <p:pic>
        <p:nvPicPr>
          <p:cNvPr id="3" name="圖片 4">
            <a:extLst>
              <a:ext uri="{FF2B5EF4-FFF2-40B4-BE49-F238E27FC236}">
                <a16:creationId xmlns:a16="http://schemas.microsoft.com/office/drawing/2014/main" id="{B61F5CCA-8304-275B-7836-A71722FDAF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240360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>
          <a:solidFill>
            <a:schemeClr val="accent2"/>
          </a:solidFill>
          <a:round/>
          <a:headEnd/>
          <a:tailEnd/>
        </a:ln>
      </a:spPr>
      <a:bodyPr/>
      <a:lstStyle>
        <a:defPPr>
          <a:defRPr/>
        </a:defPPr>
      </a:lstStyle>
    </a:sp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8057</TotalTime>
  <Words>492</Words>
  <Application>Microsoft Office PowerPoint</Application>
  <PresentationFormat>寬螢幕</PresentationFormat>
  <Paragraphs>87</Paragraphs>
  <Slides>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微軟正黑體</vt:lpstr>
      <vt:lpstr>標楷體</vt:lpstr>
      <vt:lpstr>Aptos</vt:lpstr>
      <vt:lpstr>Arial</vt:lpstr>
      <vt:lpstr>Tahoma</vt:lpstr>
      <vt:lpstr>Verdana</vt:lpstr>
      <vt:lpstr>Wingdings</vt:lpstr>
      <vt:lpstr>Profile</vt:lpstr>
      <vt:lpstr>PowerPoint 簡報</vt:lpstr>
      <vt:lpstr>整體運作流程</vt:lpstr>
      <vt:lpstr>頁面功能介紹</vt:lpstr>
      <vt:lpstr>如何列印報表?</vt:lpstr>
      <vt:lpstr>如何接收現場設備數據?</vt:lpstr>
      <vt:lpstr>常見問題</vt:lpstr>
      <vt:lpstr>常見問題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MichaelLee</dc:creator>
  <cp:lastModifiedBy>蔡德龍 / TSAI，TE-LUNG</cp:lastModifiedBy>
  <cp:revision>913</cp:revision>
  <cp:lastPrinted>2022-08-12T03:29:57Z</cp:lastPrinted>
  <dcterms:created xsi:type="dcterms:W3CDTF">2004-02-23T01:50:34Z</dcterms:created>
  <dcterms:modified xsi:type="dcterms:W3CDTF">2025-05-14T07:52:37Z</dcterms:modified>
</cp:coreProperties>
</file>